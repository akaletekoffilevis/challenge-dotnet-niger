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Poppins" panose="00000700000000000000"/>
      <p:bold r:id="rId20"/>
      <p:italic r:id="rId21"/>
      <p:boldItalic r:id="rId22"/>
    </p:embeddedFont>
    <p:embeddedFont>
      <p:font typeface="Calibri" panose="020F0502020204030204"/>
      <p:regular r:id="rId23"/>
      <p:bold r:id="rId24"/>
      <p:italic r:id="rId25"/>
      <p:boldItalic r:id="rId26"/>
    </p:embeddedFont>
    <p:embeddedFont>
      <p:font typeface="Urbanist" panose="020B0A04040200000203"/>
      <p:regular r:id="rId27"/>
      <p:bold r:id="rId28"/>
      <p:italic r:id="rId29"/>
      <p:boldItalic r:id="rId30"/>
    </p:embeddedFont>
    <p:embeddedFont>
      <p:font typeface="Urbanist SemiBold" panose="020B0A04040200000203"/>
      <p:regular r:id="rId31"/>
      <p:bold r:id="rId32"/>
      <p:italic r:id="rId33"/>
      <p:boldItalic r:id="rId34"/>
    </p:embeddedFont>
    <p:embeddedFont>
      <p:font typeface="Poppins SemiBold" panose="0000070000000000000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B903BE2-9A60-4443-9EB8-7BF3E14CBE6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18.fntdata"/><Relationship Id="rId36" Type="http://schemas.openxmlformats.org/officeDocument/2006/relationships/font" Target="fonts/font17.fntdata"/><Relationship Id="rId35" Type="http://schemas.openxmlformats.org/officeDocument/2006/relationships/font" Target="fonts/font16.fntdata"/><Relationship Id="rId34" Type="http://schemas.openxmlformats.org/officeDocument/2006/relationships/font" Target="fonts/font15.fntdata"/><Relationship Id="rId33" Type="http://schemas.openxmlformats.org/officeDocument/2006/relationships/font" Target="fonts/font14.fntdata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0" name="Google Shape;240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960483" y="2027039"/>
            <a:ext cx="8271033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 panose="00000700000000000000"/>
                <a:ea typeface="Poppins" panose="00000700000000000000"/>
                <a:cs typeface="Poppins" panose="00000700000000000000"/>
                <a:sym typeface="Poppins" panose="00000700000000000000"/>
              </a:rPr>
              <a:t>Challenge NextDev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6000" b="1" i="0" u="none" strike="noStrike" cap="none">
                <a:solidFill>
                  <a:srgbClr val="F8FAFC"/>
                </a:solidFill>
                <a:latin typeface="Poppins" panose="00000700000000000000"/>
                <a:ea typeface="Poppins" panose="00000700000000000000"/>
                <a:cs typeface="Poppins" panose="00000700000000000000"/>
                <a:sym typeface="Poppins" panose="00000700000000000000"/>
              </a:rPr>
              <a:t> Hébergement .NET 9</a:t>
            </a:r>
            <a:endParaRPr lang="en-US" sz="6000" b="1" i="0" u="none" strike="noStrike" cap="none">
              <a:solidFill>
                <a:srgbClr val="F8FAFC"/>
              </a:solidFill>
              <a:latin typeface="Poppins" panose="00000700000000000000"/>
              <a:ea typeface="Poppins" panose="00000700000000000000"/>
              <a:cs typeface="Poppins" panose="00000700000000000000"/>
              <a:sym typeface="Poppins" panose="00000700000000000000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809750" y="4084439"/>
            <a:ext cx="85725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Configuration d'infrastructure Open Source et déploiement applicatif Full-Stack en 48 heures.</a:t>
            </a:r>
            <a:endParaRPr lang="en-US" sz="210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694682"/>
            <a:ext cx="5381625" cy="246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38875" y="2694682"/>
            <a:ext cx="5381625" cy="2468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914400" y="3037582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18C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Domaines Cibles</a:t>
            </a:r>
            <a:endParaRPr lang="en-US" sz="2100" b="1" i="0" u="none" strike="noStrike" cap="none">
              <a:solidFill>
                <a:srgbClr val="818C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914400" y="3504307"/>
            <a:ext cx="46958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Configuration de deux noms de domaines distincts pour isoler les services :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581775" y="3037582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18C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Technologies Clés</a:t>
            </a:r>
            <a:endParaRPr lang="en-US" sz="2100" b="1" i="0" u="none" strike="noStrike" cap="none">
              <a:solidFill>
                <a:srgbClr val="818C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581775" y="3504307"/>
            <a:ext cx="46958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Utilisation des dernières versions stables pour garantir la performance :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114425" y="423291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152525" y="4233862"/>
            <a:ext cx="4457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www.nextdev.ne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: Site Vitrine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114425" y="452625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152525" y="4527202"/>
            <a:ext cx="4457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api.nextdev.ne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: Backend API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781800" y="423291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819900" y="4233862"/>
            <a:ext cx="4457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ASP.NET Core 9 (Razor &amp; Minimal API)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781800" y="4526250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•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6819900" y="4527202"/>
            <a:ext cx="4457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Base de données SQLite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Contexte et Périmètre du Projet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31715"/>
            <a:ext cx="3492549" cy="279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531715"/>
            <a:ext cx="3492549" cy="279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531715"/>
            <a:ext cx="3492549" cy="279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079575" y="292224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894237" y="3636615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Infrastructure</a:t>
            </a:r>
            <a:endParaRPr lang="en-US" sz="18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962025" y="4055715"/>
            <a:ext cx="2711499" cy="1065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Installation et configuration des services Open Source (DNS, DHCP</a:t>
            </a:r>
            <a:r>
              <a:rPr lang="fr-FR" alt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, Apache2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).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89" name="Google Shape;89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95962" y="292224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4672537" y="3636615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Développement</a:t>
            </a:r>
            <a:endParaRPr lang="en-US" sz="18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740324" y="4055715"/>
            <a:ext cx="27114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Maîtrise de .NET 9 pour le web vitrine et les APIs REST modernes.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92" name="Google Shape;92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574262" y="292224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8450836" y="3636615"/>
            <a:ext cx="28470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Interconnexion</a:t>
            </a:r>
            <a:endParaRPr lang="en-US" sz="1800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8518624" y="4055715"/>
            <a:ext cx="271149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Lier Networking, Systèmes et Développement dans un projet local.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Objectifs du Challenge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571500" y="202406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Le projet repose sur un environnement serveur robuste et évolutif :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04" name="Google Shape;104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3650" y="203358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1000125" y="2801242"/>
            <a:ext cx="4857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OS: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Debian 12 ou Ubuntu LTS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971550" y="3332708"/>
            <a:ext cx="48863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Serveur Web: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Apache 2 en Reverse Proxy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942975" y="3864173"/>
            <a:ext cx="49149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Stockage: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SQLite (Léger et portable)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971550" y="4395638"/>
            <a:ext cx="48863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Runtime: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.NET Core 9 SDK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09" name="Google Shape;109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84410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37557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71500" y="390703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71500" y="443850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Pile Technologique Cible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571500" y="2276475"/>
            <a:ext cx="11049000" cy="272593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21" name="Google Shape;121;p17"/>
          <p:cNvGraphicFramePr/>
          <p:nvPr/>
        </p:nvGraphicFramePr>
        <p:xfrm>
          <a:off x="571500" y="2276475"/>
          <a:ext cx="11048975" cy="3000000"/>
        </p:xfrm>
        <a:graphic>
          <a:graphicData uri="http://schemas.openxmlformats.org/drawingml/2006/table">
            <a:tbl>
              <a:tblPr firstRow="1" bandRow="1">
                <a:noFill/>
                <a:tableStyleId>{1B903BE2-9A60-4443-9EB8-7BF3E14CBE65}</a:tableStyleId>
              </a:tblPr>
              <a:tblGrid>
                <a:gridCol w="3478550"/>
                <a:gridCol w="1853350"/>
                <a:gridCol w="5717075"/>
              </a:tblGrid>
              <a:tr h="68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2D3EE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Point de Terminaison</a:t>
                      </a:r>
                      <a:endParaRPr lang="en-US" sz="1650" b="0" i="0" u="none" strike="noStrike" cap="none">
                        <a:solidFill>
                          <a:srgbClr val="22D3EE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2D3EE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Méthode</a:t>
                      </a:r>
                      <a:endParaRPr lang="en-US" sz="1650" b="0" i="0" u="none" strike="noStrike" cap="none">
                        <a:solidFill>
                          <a:srgbClr val="22D3EE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2D3EE"/>
                          </a:solidFill>
                          <a:latin typeface="Urbanist SemiBold" panose="020B0A04040200000203"/>
                          <a:ea typeface="Urbanist SemiBold" panose="020B0A04040200000203"/>
                          <a:cs typeface="Urbanist SemiBold" panose="020B0A04040200000203"/>
                          <a:sym typeface="Urbanist SemiBold" panose="020B0A04040200000203"/>
                        </a:rPr>
                        <a:t>Description du Retour</a:t>
                      </a:r>
                      <a:endParaRPr lang="en-US" sz="1650" b="0" i="0" u="none" strike="noStrike" cap="none">
                        <a:solidFill>
                          <a:srgbClr val="22D3EE"/>
                        </a:solidFill>
                        <a:latin typeface="Urbanist SemiBold" panose="020B0A04040200000203"/>
                        <a:ea typeface="Urbanist SemiBold" panose="020B0A04040200000203"/>
                        <a:cs typeface="Urbanist SemiBold" panose="020B0A04040200000203"/>
                        <a:sym typeface="Urbanist SemiBold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</a:tr>
              <a:tr h="68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/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GET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Page d'accueil Microsoft Minimal API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8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/trainee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GET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Liste complète des stagiaires (SQLite)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8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Root Domain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-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4A3B8"/>
                          </a:solidFill>
                          <a:latin typeface="Urbanist" panose="020B0A04040200000203"/>
                          <a:ea typeface="Urbanist" panose="020B0A04040200000203"/>
                          <a:cs typeface="Urbanist" panose="020B0A04040200000203"/>
                          <a:sym typeface="Urbanist" panose="020B0A04040200000203"/>
                        </a:rPr>
                        <a:t>api.nextdev.ne</a:t>
                      </a:r>
                      <a:endParaRPr lang="en-US" sz="1650" b="0" i="0" u="none" strike="noStrike" cap="none">
                        <a:solidFill>
                          <a:srgbClr val="94A3B8"/>
                        </a:solidFill>
                        <a:latin typeface="Urbanist" panose="020B0A04040200000203"/>
                        <a:ea typeface="Urbanist" panose="020B0A04040200000203"/>
                        <a:cs typeface="Urbanist" panose="020B0A04040200000203"/>
                        <a:sym typeface="Urbanist" panose="020B0A04040200000203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17"/>
          <p:cNvSpPr txBox="1"/>
          <p:nvPr/>
        </p:nvSpPr>
        <p:spPr>
          <a:xfrm>
            <a:off x="571500" y="528816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L'API doit être configurée pour écouter sur un port spécifique avant d'être exposée par Apache.</a:t>
            </a:r>
            <a:endParaRPr lang="en-US" sz="1650" b="0" i="1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571500" y="3620392"/>
            <a:ext cx="34785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050059" y="3620392"/>
            <a:ext cx="1853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903416" y="3620392"/>
            <a:ext cx="57170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571500" y="4304258"/>
            <a:ext cx="34785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050059" y="4304258"/>
            <a:ext cx="1853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903416" y="4304258"/>
            <a:ext cx="57170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71500" y="4988123"/>
            <a:ext cx="347855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4050059" y="4988123"/>
            <a:ext cx="18533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5903416" y="4988123"/>
            <a:ext cx="571708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Configuration de l'API Minimal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057525" y="4340423"/>
            <a:ext cx="1978223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571500" y="3071663"/>
            <a:ext cx="191452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03</a:t>
            </a:r>
            <a:endParaRPr lang="en-US" sz="135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057525" y="2955577"/>
            <a:ext cx="6000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Piliers de l'infrastructure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3057525" y="3269902"/>
            <a:ext cx="5715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Le challenge exige la configuration simultanée de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DNS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pour la résolution de noms,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DHCP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pour l'adressage dynamique, et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Apache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pour la distribution web.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43" name="Google Shape;143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248025" y="4559498"/>
            <a:ext cx="159722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Services d'Infrastructure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571500" y="392906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1672530" y="331663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510733" y="373573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H0 - H12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3954809"/>
            <a:ext cx="2430660" cy="709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Installation OS &amp; Services (DNS/DHCP</a:t>
            </a:r>
            <a:r>
              <a:rPr lang="fr-FR" alt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, Apache2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)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4545210" y="331663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3383413" y="373573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H12 - H24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3444180" y="3954809"/>
            <a:ext cx="243066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Développement .NET 9 (Razor &amp; API)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7417891" y="331663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6256094" y="373573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H24 - H36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6316860" y="3954809"/>
            <a:ext cx="243066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Reverse Proxy Apache &amp; SQL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10290571" y="331663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206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9128774" y="373573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H36 - H48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9189541" y="3954809"/>
            <a:ext cx="243066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Tests, Communication &amp; Soutenance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Déroulement sur 48 Heures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762000" y="571500"/>
            <a:ext cx="644017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Routage avec Apache 2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71500" y="571500"/>
            <a:ext cx="47625" cy="123825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2190750"/>
            <a:ext cx="8114030" cy="35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Le serveur Apache agit comme une passerelle (Reverse Proxy) :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971550" y="2967990"/>
            <a:ext cx="5895340" cy="35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Redirection des requêtes HTTP vers Kestrel (.NET).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71550" y="3499485"/>
            <a:ext cx="5895340" cy="35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Isolation et sécurité du runtime applicatif.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971550" y="4030980"/>
            <a:ext cx="5651500" cy="35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Gestion simultanée de multiples VirtualHosts.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77" name="Google Shape;177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0107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54225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07372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46982"/>
            <a:ext cx="5381625" cy="1739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38875" y="2046982"/>
            <a:ext cx="5381625" cy="1739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4071937"/>
            <a:ext cx="5381625" cy="1739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38875" y="4071937"/>
            <a:ext cx="5381625" cy="173920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914400" y="2389882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18C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Travail d'Équipe</a:t>
            </a:r>
            <a:endParaRPr lang="en-US" sz="2100" b="1" i="0" u="none" strike="noStrike" cap="none">
              <a:solidFill>
                <a:srgbClr val="818C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914400" y="2856607"/>
            <a:ext cx="46958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Capacité à collaborer, partager les tâches et résoudre les problèmes ensemble sous pression.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6581775" y="2389882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18C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Communication</a:t>
            </a:r>
            <a:endParaRPr lang="en-US" sz="2100" b="1" i="0" u="none" strike="noStrike" cap="none">
              <a:solidFill>
                <a:srgbClr val="818C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581775" y="2856607"/>
            <a:ext cx="46958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Fluidité de l'information au sein du groupe et clarté de la présentation finale.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914400" y="4414837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18C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Technique</a:t>
            </a:r>
            <a:endParaRPr lang="en-US" sz="2100" b="1" i="0" u="none" strike="noStrike" cap="none">
              <a:solidFill>
                <a:srgbClr val="818C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914400" y="4881562"/>
            <a:ext cx="46958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Bonne configuration des services et fonctionnement sans erreur des endpoints API.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581775" y="4414837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18CF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Curiosité</a:t>
            </a:r>
            <a:endParaRPr lang="en-US" sz="2100" b="1" i="0" u="none" strike="noStrike" cap="none">
              <a:solidFill>
                <a:srgbClr val="818CF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581775" y="4881562"/>
            <a:ext cx="46958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Recherche de solutions d'hébergement local innovantes et optimisation système.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98" name="Google Shape;198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4400" y="241845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581775" y="241845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14400" y="44434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581775" y="4443412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Critères d'Excellence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09687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19212" y="2033587"/>
            <a:ext cx="17240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334125" y="2844254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F8FAF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Simplicité et Performance</a:t>
            </a:r>
            <a:endParaRPr lang="en-US" sz="1405" b="1" i="0" u="none" strike="noStrike" cap="none">
              <a:solidFill>
                <a:srgbClr val="F8FAF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334125" y="3063329"/>
            <a:ext cx="5286375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Le site vitrine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Razor Pages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offre une structure robuste pour le SEO et le rendu serveur. Parallèlement, la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Minimal API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réduit le code "boilerplate", permettant une réponse rapide aux requêtes JSON.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6334125" y="4427190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L'intégration de 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SQLite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garantit une portabilité totale entre les environnements de test et de production.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Développement .NET Modern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571500" y="2024062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Une équipe qui communique bien est la clé du succès dans ce défi de 48 heures. La mise en relation des compétences est essentielle :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23" name="Google Shape;223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43650" y="2033587"/>
            <a:ext cx="23050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571500" y="3094583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Partage des connaissances en Networking.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71500" y="3626048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Coordination sur les scripts de déploiement.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571500" y="4157513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Soutien mutuel durant la phase de débogage Apache/.NET.</a:t>
            </a:r>
            <a:endParaRPr lang="en-US" sz="16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Coopération de l'Équipe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133850" y="4072830"/>
            <a:ext cx="3924300" cy="69339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4015740" y="2091630"/>
            <a:ext cx="4160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Questions ?</a:t>
            </a:r>
            <a:endParaRPr lang="en-US" sz="6000" b="1" i="0" u="none" strike="noStrike" cap="none">
              <a:solidFill>
                <a:srgbClr val="22D3EE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4114800" y="3196530"/>
            <a:ext cx="3962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Merci pour votre attention.</a:t>
            </a:r>
            <a:endParaRPr lang="en-US" sz="2250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4333875" y="4272855"/>
            <a:ext cx="35242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NextDev Challenge | 48 Heures | .NET 9</a:t>
            </a:r>
            <a:endParaRPr lang="en-US" sz="1650" b="0" i="0" u="none" strike="noStrike" cap="none">
              <a:solidFill>
                <a:srgbClr val="CBD5E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/>
          <p:nvPr/>
        </p:nvSpPr>
        <p:spPr>
          <a:xfrm>
            <a:off x="571500" y="232514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571500" y="309666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386819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30871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571500" y="30871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38586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38586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46301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46301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52" name="Google Shape;252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68016"/>
            <a:ext cx="1162050" cy="88002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1666875" y="248900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https://cdn.outrank.so/78781f38-849d-4697-b75b-475fe17116b4/1a2d2c98-9681-4358-8707-8461cab604f8/debian-server-vs-ubuntu-server-server-room.jpg</a:t>
            </a:r>
            <a:endParaRPr lang="en-US" sz="975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1666875" y="270986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arphost.com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55" name="Google Shape;255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2395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666875" y="326052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https://miro.medium.com/v2/resize:fit:1400/1*ejhQd9vjNSRfDfO6J4WoGQ.png</a:t>
            </a:r>
            <a:endParaRPr lang="en-US" sz="975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1666875" y="348138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aws.plainenglish.io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58" name="Google Shape;258;p2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0110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666875" y="403205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https://www.infoworld.com/wp-content/uploads/2024/12/3540474-0-75904200-1734041203-shutterstock_2164135533.jpg?quality=50&amp;strip=all</a:t>
            </a:r>
            <a:endParaRPr lang="en-US" sz="975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1666875" y="425291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www.infoworld.com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261" name="Google Shape;261;p2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8480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666875" y="4782591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https://media2.dev.to/dynamic/image/width=1000,height=420,fit=cover,gravity=auto,format=auto/https%3A%2F%2Fdev-to-uploads.s3.amazonaws.com%2Fuploads%2Farticles%2F77yhl48m8md1gkrm9buw.jpg</a:t>
            </a:r>
            <a:endParaRPr lang="en-US" sz="975" b="0" i="0" u="none" strike="noStrike" cap="none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1666875" y="517668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dev.to</a:t>
            </a:r>
            <a:endParaRPr lang="en-US" sz="1200" b="0" i="0" u="none" strike="noStrike" cap="none">
              <a:solidFill>
                <a:srgbClr val="4F46E5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2D3EE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Image Sources</a:t>
            </a:r>
            <a:endParaRPr lang="en-US" sz="3300" b="0" i="0" u="none" strike="noStrike" cap="none">
              <a:solidFill>
                <a:srgbClr val="22D3EE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571500"/>
            <a:ext cx="47625" cy="619125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3607</Words>
  <Application>WPS Presentation</Application>
  <PresentationFormat/>
  <Paragraphs>180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Poppins</vt:lpstr>
      <vt:lpstr>Calibri</vt:lpstr>
      <vt:lpstr>Urbanist</vt:lpstr>
      <vt:lpstr>Urbanist SemiBold</vt:lpstr>
      <vt:lpstr>Poppins SemiBold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YACOUBA ALI Abdallah</cp:lastModifiedBy>
  <cp:revision>1</cp:revision>
  <dcterms:created xsi:type="dcterms:W3CDTF">2026-05-08T07:27:55Z</dcterms:created>
  <dcterms:modified xsi:type="dcterms:W3CDTF">2026-05-08T07:27:57Z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921D8CC86D65496788E9A91DC6B28E09_12</vt:lpwstr>
  </property>
</Properties>
</file>