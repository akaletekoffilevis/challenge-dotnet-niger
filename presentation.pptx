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74839A7-33DC-49ED-A7B2-BD6C924C861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fr-F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fr-F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A935953-6537-4915-94CD-ECDF1404FC2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fr-FR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fr-F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texte-titre</a:t>
            </a:r>
            <a:endParaRPr lang="fr-F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plan de texte</a:t>
            </a:r>
            <a:endParaRPr lang="fr-F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niveau de plan</a:t>
            </a:r>
            <a:endParaRPr lang="fr-F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Troisième niveau de plan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Quatrième niveau de plan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Cinquième niveau de plan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Sixième niveau de plan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Septième niveau de plan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&lt;date/heure&gt;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8FF87322-7ADA-427F-A970-F5B50BD788CD}" type="slidenum"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&lt;numéro&gt;</a:t>
            </a:fld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g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1B3A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Accent"/>
          <p:cNvSpPr/>
          <p:nvPr/>
        </p:nvSpPr>
        <p:spPr>
          <a:xfrm>
            <a:off x="0" y="0"/>
            <a:ext cx="12191760" cy="914040"/>
          </a:xfrm>
          <a:prstGeom prst="rect">
            <a:avLst/>
          </a:prstGeom>
          <a:solidFill>
            <a:srgbClr val="00A4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itle"/>
          <p:cNvSpPr/>
          <p:nvPr/>
        </p:nvSpPr>
        <p:spPr>
          <a:xfrm>
            <a:off x="914400" y="1828800"/>
            <a:ext cx="10399680" cy="119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fr-FR" sz="4400" b="1" u="none" spc="-51" strike="noStrike">
                <a:solidFill>
                  <a:srgbClr val="FFFFFF"/>
                </a:solidFill>
                <a:effectLst/>
                <a:uFillTx/>
                <a:latin typeface="Calibri"/>
              </a:rPr>
              <a:t>Challenge NextDev</a:t>
            </a:r>
            <a:endParaRPr lang="fr-F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Subtitle"/>
          <p:cNvSpPr/>
          <p:nvPr/>
        </p:nvSpPr>
        <p:spPr>
          <a:xfrm>
            <a:off x="914400" y="3200040"/>
            <a:ext cx="10399680" cy="79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r>
              <a:rPr lang="fr-FR" sz="2200" b="0" u="none" spc="-51" strike="noStrike">
                <a:solidFill>
                  <a:srgbClr val="A0C4E8"/>
                </a:solidFill>
                <a:effectLst/>
                <a:uFillTx/>
                <a:latin typeface="Calibri"/>
              </a:rPr>
              <a:t>Hébergement .NET 9</a:t>
            </a:r>
            <a:endParaRPr lang="fr-F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fr-FR" sz="2200" b="0" u="none" spc="-51" strike="noStrike">
                <a:solidFill>
                  <a:srgbClr val="A0C4E8"/>
                </a:solidFill>
                <a:effectLst/>
                <a:uFillTx/>
                <a:latin typeface="Calibri"/>
              </a:rPr>
              <a:t>Configuration d'infrastructure Open Source</a:t>
            </a:r>
            <a:endParaRPr lang="fr-F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fr-FR" sz="2200" b="0" u="none" spc="-51" strike="noStrike">
                <a:solidFill>
                  <a:srgbClr val="A0C4E8"/>
                </a:solidFill>
                <a:effectLst/>
                <a:uFillTx/>
                <a:latin typeface="Calibri"/>
              </a:rPr>
              <a:t>et déploiement applicatif Full-Stack en 48 heures</a:t>
            </a:r>
            <a:endParaRPr lang="fr-F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Bar"/>
          <p:cNvSpPr/>
          <p:nvPr/>
        </p:nvSpPr>
        <p:spPr>
          <a:xfrm>
            <a:off x="0" y="5943600"/>
            <a:ext cx="12191760" cy="914040"/>
          </a:xfrm>
          <a:prstGeom prst="rect">
            <a:avLst/>
          </a:prstGeom>
          <a:solidFill>
            <a:srgbClr val="0D2B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g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1B3A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opBar"/>
          <p:cNvSpPr/>
          <p:nvPr/>
        </p:nvSpPr>
        <p:spPr>
          <a:xfrm>
            <a:off x="0" y="0"/>
            <a:ext cx="12191760" cy="914040"/>
          </a:xfrm>
          <a:prstGeom prst="rect">
            <a:avLst/>
          </a:prstGeom>
          <a:solidFill>
            <a:srgbClr val="00A4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itle"/>
          <p:cNvSpPr/>
          <p:nvPr/>
        </p:nvSpPr>
        <p:spPr>
          <a:xfrm>
            <a:off x="457200" y="200160"/>
            <a:ext cx="11199600" cy="6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fr-FR" sz="2800" b="1" u="none" spc="-51" strike="noStrike">
                <a:solidFill>
                  <a:srgbClr val="FFFFFF"/>
                </a:solidFill>
                <a:effectLst/>
                <a:uFillTx/>
                <a:latin typeface="Calibri"/>
              </a:rPr>
              <a:t>Contexte &amp; Périmètre du Projet</a:t>
            </a:r>
            <a:endParaRPr lang="fr-F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Line"/>
          <p:cNvSpPr/>
          <p:nvPr/>
        </p:nvSpPr>
        <p:spPr>
          <a:xfrm>
            <a:off x="457200" y="849960"/>
            <a:ext cx="2999520" cy="35640"/>
          </a:xfrm>
          <a:prstGeom prst="rect">
            <a:avLst/>
          </a:prstGeom>
          <a:solidFill>
            <a:srgbClr val="00A4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9000" rIns="90000" bIns="-9000" anchor="t">
            <a:noAutofit/>
          </a:bodyPr>
          <a:p>
            <a:endParaRPr lang="fr-F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Item"/>
          <p:cNvSpPr/>
          <p:nvPr/>
        </p:nvSpPr>
        <p:spPr>
          <a:xfrm>
            <a:off x="685800" y="1050120"/>
            <a:ext cx="10799640" cy="44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fr-FR" sz="1800" b="0" u="none" spc="-51" strike="noStrike">
                <a:solidFill>
                  <a:srgbClr val="FFFFFF"/>
                </a:solidFill>
                <a:effectLst/>
                <a:uFillTx/>
                <a:latin typeface="Calibri"/>
              </a:rPr>
              <a:t>● Deux domaines isolés : www.nextdev.ne (site) et api.nextdev.ne (API)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Item"/>
          <p:cNvSpPr/>
          <p:nvPr/>
        </p:nvSpPr>
        <p:spPr>
          <a:xfrm>
            <a:off x="685800" y="1530000"/>
            <a:ext cx="10799640" cy="44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fr-FR" sz="1800" b="0" u="none" spc="-51" strike="noStrike">
                <a:solidFill>
                  <a:srgbClr val="FFFFFF"/>
                </a:solidFill>
                <a:effectLst/>
                <a:uFillTx/>
                <a:latin typeface="Calibri"/>
              </a:rPr>
              <a:t>● ASP.NET Core 9 : Razor Pages pour le site vitrine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Item"/>
          <p:cNvSpPr/>
          <p:nvPr/>
        </p:nvSpPr>
        <p:spPr>
          <a:xfrm>
            <a:off x="685800" y="2009880"/>
            <a:ext cx="10799640" cy="44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fr-FR" sz="1800" b="0" u="none" spc="-51" strike="noStrike">
                <a:solidFill>
                  <a:srgbClr val="FFFFFF"/>
                </a:solidFill>
                <a:effectLst/>
                <a:uFillTx/>
                <a:latin typeface="Calibri"/>
              </a:rPr>
              <a:t>● Minimal API pour le backend REST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Item"/>
          <p:cNvSpPr/>
          <p:nvPr/>
        </p:nvSpPr>
        <p:spPr>
          <a:xfrm>
            <a:off x="685800" y="2490120"/>
            <a:ext cx="10799640" cy="44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fr-FR" sz="1800" b="0" u="none" spc="-51" strike="noStrike">
                <a:solidFill>
                  <a:srgbClr val="FFFFFF"/>
                </a:solidFill>
                <a:effectLst/>
                <a:uFillTx/>
                <a:latin typeface="Calibri"/>
              </a:rPr>
              <a:t>● Base de données SQLite (portable, zéro config)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Item"/>
          <p:cNvSpPr/>
          <p:nvPr/>
        </p:nvSpPr>
        <p:spPr>
          <a:xfrm>
            <a:off x="685800" y="2970000"/>
            <a:ext cx="10799640" cy="44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fr-FR" sz="1800" b="0" u="none" spc="-51" strike="noStrike">
                <a:solidFill>
                  <a:srgbClr val="FFFFFF"/>
                </a:solidFill>
                <a:effectLst/>
                <a:uFillTx/>
                <a:latin typeface="Calibri"/>
              </a:rPr>
              <a:t>● Infrastructure : DNS (BIND9), DHCP (ISC), Apache 2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Item"/>
          <p:cNvSpPr/>
          <p:nvPr/>
        </p:nvSpPr>
        <p:spPr>
          <a:xfrm>
            <a:off x="685800" y="3449880"/>
            <a:ext cx="10799640" cy="44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fr-FR" sz="1800" b="0" u="none" spc="-51" strike="noStrike">
                <a:solidFill>
                  <a:srgbClr val="FFFFFF"/>
                </a:solidFill>
                <a:effectLst/>
                <a:uFillTx/>
                <a:latin typeface="Calibri"/>
              </a:rPr>
              <a:t>● OS : Debian 12 (Bookworm)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Bg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1B3A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TopBar"/>
          <p:cNvSpPr/>
          <p:nvPr/>
        </p:nvSpPr>
        <p:spPr>
          <a:xfrm>
            <a:off x="0" y="0"/>
            <a:ext cx="12191760" cy="914040"/>
          </a:xfrm>
          <a:prstGeom prst="rect">
            <a:avLst/>
          </a:prstGeom>
          <a:solidFill>
            <a:srgbClr val="00A4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Title"/>
          <p:cNvSpPr/>
          <p:nvPr/>
        </p:nvSpPr>
        <p:spPr>
          <a:xfrm>
            <a:off x="457200" y="200160"/>
            <a:ext cx="11199600" cy="6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fr-FR" sz="2800" b="1" u="none" spc="-51" strike="noStrike">
                <a:solidFill>
                  <a:srgbClr val="FFFFFF"/>
                </a:solidFill>
                <a:effectLst/>
                <a:uFillTx/>
                <a:latin typeface="Calibri"/>
              </a:rPr>
              <a:t>Architecture Globale</a:t>
            </a:r>
            <a:endParaRPr lang="fr-F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Client"/>
          <p:cNvSpPr/>
          <p:nvPr/>
        </p:nvSpPr>
        <p:spPr>
          <a:xfrm>
            <a:off x="914400" y="1500120"/>
            <a:ext cx="2199600" cy="79956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ClientTxt"/>
          <p:cNvSpPr/>
          <p:nvPr/>
        </p:nvSpPr>
        <p:spPr>
          <a:xfrm>
            <a:off x="914400" y="1649880"/>
            <a:ext cx="2199600" cy="4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r>
              <a:rPr lang="fr-FR" sz="1400" b="1" u="none" spc="-51" strike="noStrike">
                <a:solidFill>
                  <a:srgbClr val="FFFFFF"/>
                </a:solidFill>
                <a:effectLst/>
                <a:uFillTx/>
                <a:latin typeface="Calibri"/>
              </a:rPr>
              <a:t>🌐 Client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fr-FR" sz="1400" b="1" u="none" spc="-51" strike="noStrike">
                <a:solidFill>
                  <a:srgbClr val="FFFFFF"/>
                </a:solidFill>
                <a:effectLst/>
                <a:uFillTx/>
                <a:latin typeface="Calibri"/>
              </a:rPr>
              <a:t>(Navigateur / curl)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Apache"/>
          <p:cNvSpPr/>
          <p:nvPr/>
        </p:nvSpPr>
        <p:spPr>
          <a:xfrm>
            <a:off x="4200120" y="1500120"/>
            <a:ext cx="2799720" cy="799560"/>
          </a:xfrm>
          <a:prstGeom prst="rect">
            <a:avLst/>
          </a:prstGeom>
          <a:solidFill>
            <a:srgbClr val="00A4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ApacheTxt"/>
          <p:cNvSpPr/>
          <p:nvPr/>
        </p:nvSpPr>
        <p:spPr>
          <a:xfrm>
            <a:off x="4200120" y="1599840"/>
            <a:ext cx="2799720" cy="59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r>
              <a:rPr lang="fr-FR" sz="1400" b="1" u="none" spc="-51" strike="noStrike">
                <a:solidFill>
                  <a:srgbClr val="FFFFFF"/>
                </a:solidFill>
                <a:effectLst/>
                <a:uFillTx/>
                <a:latin typeface="Calibri"/>
              </a:rPr>
              <a:t>🖥️ Apache 2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fr-FR" sz="1400" b="1" u="none" spc="-51" strike="noStrike">
                <a:solidFill>
                  <a:srgbClr val="FFFFFF"/>
                </a:solidFill>
                <a:effectLst/>
                <a:uFillTx/>
                <a:latin typeface="Calibri"/>
              </a:rPr>
              <a:t>Reverse Proxy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fr-FR" sz="1400" b="1" u="none" spc="-51" strike="noStrike">
                <a:solidFill>
                  <a:srgbClr val="FFFFFF"/>
                </a:solidFill>
                <a:effectLst/>
                <a:uFillTx/>
                <a:latin typeface="Calibri"/>
              </a:rPr>
              <a:t>(80/443)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KestrelWeb"/>
          <p:cNvSpPr/>
          <p:nvPr/>
        </p:nvSpPr>
        <p:spPr>
          <a:xfrm>
            <a:off x="7999920" y="1100160"/>
            <a:ext cx="3199680" cy="699480"/>
          </a:xfrm>
          <a:prstGeom prst="rect">
            <a:avLst/>
          </a:prstGeom>
          <a:solidFill>
            <a:srgbClr val="28A74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KestrelWebTxt"/>
          <p:cNvSpPr/>
          <p:nvPr/>
        </p:nvSpPr>
        <p:spPr>
          <a:xfrm>
            <a:off x="7999920" y="1199880"/>
            <a:ext cx="3199680" cy="4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r>
              <a:rPr lang="fr-FR" sz="1300" b="1" u="none" spc="-51" strike="noStrike">
                <a:solidFill>
                  <a:srgbClr val="FFFFFF"/>
                </a:solidFill>
                <a:effectLst/>
                <a:uFillTx/>
                <a:latin typeface="Calibri"/>
              </a:rPr>
              <a:t>🔄 Kestrel :5000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fr-FR" sz="1300" b="1" u="none" spc="-51" strike="noStrike">
                <a:solidFill>
                  <a:srgbClr val="FFFFFF"/>
                </a:solidFill>
                <a:effectLst/>
                <a:uFillTx/>
                <a:latin typeface="Calibri"/>
              </a:rPr>
              <a:t>Razor Pages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fr-FR" sz="1300" b="1" u="none" spc="-51" strike="noStrike">
                <a:solidFill>
                  <a:srgbClr val="FFFFFF"/>
                </a:solidFill>
                <a:effectLst/>
                <a:uFillTx/>
                <a:latin typeface="Calibri"/>
              </a:rPr>
              <a:t>www.nextdev.ne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KestrelApi"/>
          <p:cNvSpPr/>
          <p:nvPr/>
        </p:nvSpPr>
        <p:spPr>
          <a:xfrm>
            <a:off x="7999920" y="2099880"/>
            <a:ext cx="3199680" cy="699480"/>
          </a:xfrm>
          <a:prstGeom prst="rect">
            <a:avLst/>
          </a:prstGeom>
          <a:solidFill>
            <a:srgbClr val="DC354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KestrelApiTxt"/>
          <p:cNvSpPr/>
          <p:nvPr/>
        </p:nvSpPr>
        <p:spPr>
          <a:xfrm>
            <a:off x="7999920" y="2199960"/>
            <a:ext cx="3199680" cy="4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r>
              <a:rPr lang="fr-FR" sz="1300" b="1" u="none" spc="-51" strike="noStrike">
                <a:solidFill>
                  <a:srgbClr val="FFFFFF"/>
                </a:solidFill>
                <a:effectLst/>
                <a:uFillTx/>
                <a:latin typeface="Calibri"/>
              </a:rPr>
              <a:t>🔄 Kestrel :5001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fr-FR" sz="1300" b="1" u="none" spc="-51" strike="noStrike">
                <a:solidFill>
                  <a:srgbClr val="FFFFFF"/>
                </a:solidFill>
                <a:effectLst/>
                <a:uFillTx/>
                <a:latin typeface="Calibri"/>
              </a:rPr>
              <a:t>Minimal API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fr-FR" sz="1300" b="1" u="none" spc="-51" strike="noStrike">
                <a:solidFill>
                  <a:srgbClr val="FFFFFF"/>
                </a:solidFill>
                <a:effectLst/>
                <a:uFillTx/>
                <a:latin typeface="Calibri"/>
              </a:rPr>
              <a:t>api.nextdev.ne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QLite"/>
          <p:cNvSpPr/>
          <p:nvPr/>
        </p:nvSpPr>
        <p:spPr>
          <a:xfrm>
            <a:off x="7999920" y="3099960"/>
            <a:ext cx="3199680" cy="599760"/>
          </a:xfrm>
          <a:prstGeom prst="rect">
            <a:avLst/>
          </a:prstGeom>
          <a:solidFill>
            <a:srgbClr val="FFC10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SQLiteTxt"/>
          <p:cNvSpPr/>
          <p:nvPr/>
        </p:nvSpPr>
        <p:spPr>
          <a:xfrm>
            <a:off x="7999920" y="3200040"/>
            <a:ext cx="319968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r>
              <a:rPr lang="fr-FR" sz="1300" b="1" u="none" spc="-51" strike="noStrike">
                <a:solidFill>
                  <a:srgbClr val="333333"/>
                </a:solidFill>
                <a:effectLst/>
                <a:uFillTx/>
                <a:latin typeface="Calibri"/>
              </a:rPr>
              <a:t>🗄️ SQLite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fr-FR" sz="1300" b="1" u="none" spc="-51" strike="noStrike">
                <a:solidFill>
                  <a:srgbClr val="333333"/>
                </a:solidFill>
                <a:effectLst/>
                <a:uFillTx/>
                <a:latin typeface="Calibri"/>
              </a:rPr>
              <a:t>(nextdev.db)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DNS"/>
          <p:cNvSpPr/>
          <p:nvPr/>
        </p:nvSpPr>
        <p:spPr>
          <a:xfrm>
            <a:off x="4200120" y="2700000"/>
            <a:ext cx="2799720" cy="599760"/>
          </a:xfrm>
          <a:prstGeom prst="rect">
            <a:avLst/>
          </a:prstGeom>
          <a:solidFill>
            <a:srgbClr val="6F42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DNSTxt"/>
          <p:cNvSpPr/>
          <p:nvPr/>
        </p:nvSpPr>
        <p:spPr>
          <a:xfrm>
            <a:off x="4200120" y="2800080"/>
            <a:ext cx="279972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r>
              <a:rPr lang="fr-FR" sz="1300" b="1" u="none" spc="-51" strike="noStrike">
                <a:solidFill>
                  <a:srgbClr val="FFFFFF"/>
                </a:solidFill>
                <a:effectLst/>
                <a:uFillTx/>
                <a:latin typeface="Calibri"/>
              </a:rPr>
              <a:t>📡 BIND9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fr-FR" sz="1300" b="1" u="none" spc="-51" strike="noStrike">
                <a:solidFill>
                  <a:srgbClr val="FFFFFF"/>
                </a:solidFill>
                <a:effectLst/>
                <a:uFillTx/>
                <a:latin typeface="Calibri"/>
              </a:rPr>
              <a:t>DNS :53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DHCP"/>
          <p:cNvSpPr/>
          <p:nvPr/>
        </p:nvSpPr>
        <p:spPr>
          <a:xfrm>
            <a:off x="4200120" y="3600000"/>
            <a:ext cx="2799720" cy="599760"/>
          </a:xfrm>
          <a:prstGeom prst="rect">
            <a:avLst/>
          </a:prstGeom>
          <a:solidFill>
            <a:srgbClr val="E83E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DHPCTxt"/>
          <p:cNvSpPr/>
          <p:nvPr/>
        </p:nvSpPr>
        <p:spPr>
          <a:xfrm>
            <a:off x="4200120" y="3700080"/>
            <a:ext cx="279972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r>
              <a:rPr lang="fr-FR" sz="1300" b="1" u="none" spc="-51" strike="noStrike">
                <a:solidFill>
                  <a:srgbClr val="FFFFFF"/>
                </a:solidFill>
                <a:effectLst/>
                <a:uFillTx/>
                <a:latin typeface="Calibri"/>
              </a:rPr>
              <a:t>🌐 ISC DHCP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fr-FR" sz="1300" b="1" u="none" spc="-51" strike="noStrike">
                <a:solidFill>
                  <a:srgbClr val="FFFFFF"/>
                </a:solidFill>
                <a:effectLst/>
                <a:uFillTx/>
                <a:latin typeface="Calibri"/>
              </a:rPr>
              <a:t>:67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Debian"/>
          <p:cNvSpPr/>
          <p:nvPr/>
        </p:nvSpPr>
        <p:spPr>
          <a:xfrm>
            <a:off x="914400" y="4299840"/>
            <a:ext cx="10999800" cy="599760"/>
          </a:xfrm>
          <a:prstGeom prst="rect">
            <a:avLst/>
          </a:prstGeom>
          <a:solidFill>
            <a:srgbClr val="0D2B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DebianTxt"/>
          <p:cNvSpPr/>
          <p:nvPr/>
        </p:nvSpPr>
        <p:spPr>
          <a:xfrm>
            <a:off x="914400" y="4399920"/>
            <a:ext cx="1099980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fr-FR" sz="1600" b="1" u="none" spc="-51" strike="noStrike">
                <a:solidFill>
                  <a:srgbClr val="FFFFFF"/>
                </a:solidFill>
                <a:effectLst/>
                <a:uFillTx/>
                <a:latin typeface="Calibri"/>
              </a:rPr>
              <a:t>🐧 Ubuntu 26.04 LTS - 10.0.0.68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Bg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1B3A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TopBar"/>
          <p:cNvSpPr/>
          <p:nvPr/>
        </p:nvSpPr>
        <p:spPr>
          <a:xfrm>
            <a:off x="0" y="0"/>
            <a:ext cx="12191760" cy="914040"/>
          </a:xfrm>
          <a:prstGeom prst="rect">
            <a:avLst/>
          </a:prstGeom>
          <a:solidFill>
            <a:srgbClr val="6F42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Title"/>
          <p:cNvSpPr/>
          <p:nvPr/>
        </p:nvSpPr>
        <p:spPr>
          <a:xfrm>
            <a:off x="457200" y="200160"/>
            <a:ext cx="11199600" cy="6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fr-FR" sz="2800" b="1" u="none" spc="-51" strike="noStrike">
                <a:solidFill>
                  <a:srgbClr val="FFFFFF"/>
                </a:solidFill>
                <a:effectLst/>
                <a:uFillTx/>
                <a:latin typeface="Calibri"/>
              </a:rPr>
              <a:t>Infrastructure Réseau &amp; Serveur</a:t>
            </a:r>
            <a:endParaRPr lang="fr-F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Line"/>
          <p:cNvSpPr/>
          <p:nvPr/>
        </p:nvSpPr>
        <p:spPr>
          <a:xfrm>
            <a:off x="457200" y="849960"/>
            <a:ext cx="2999520" cy="35640"/>
          </a:xfrm>
          <a:prstGeom prst="rect">
            <a:avLst/>
          </a:prstGeom>
          <a:solidFill>
            <a:srgbClr val="6F42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9000" rIns="90000" bIns="-9000" anchor="t">
            <a:noAutofit/>
          </a:bodyPr>
          <a:p>
            <a:endParaRPr lang="fr-F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LHead"/>
          <p:cNvSpPr/>
          <p:nvPr/>
        </p:nvSpPr>
        <p:spPr>
          <a:xfrm>
            <a:off x="457200" y="1100160"/>
            <a:ext cx="539964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fr-FR" sz="2000" b="1" u="none" spc="-51" strike="noStrike">
                <a:solidFill>
                  <a:srgbClr val="6F42C1"/>
                </a:solidFill>
                <a:effectLst/>
                <a:uFillTx/>
                <a:latin typeface="Calibri"/>
              </a:rPr>
              <a:t>🌐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LItem"/>
          <p:cNvSpPr/>
          <p:nvPr/>
        </p:nvSpPr>
        <p:spPr>
          <a:xfrm>
            <a:off x="685800" y="1500120"/>
            <a:ext cx="519948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fr-FR" sz="1600" b="0" u="none" spc="-51" strike="noStrike">
                <a:solidFill>
                  <a:srgbClr val="FFFFFF"/>
                </a:solidFill>
                <a:effectLst/>
                <a:uFillTx/>
                <a:latin typeface="Calibri"/>
              </a:rPr>
              <a:t>● Zone nextdev.ne configurée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LItem"/>
          <p:cNvSpPr/>
          <p:nvPr/>
        </p:nvSpPr>
        <p:spPr>
          <a:xfrm>
            <a:off x="685800" y="1900080"/>
            <a:ext cx="519948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fr-FR" sz="1600" b="0" u="none" spc="-51" strike="noStrike">
                <a:solidFill>
                  <a:srgbClr val="FFFFFF"/>
                </a:solidFill>
                <a:effectLst/>
                <a:uFillTx/>
                <a:latin typeface="Calibri"/>
              </a:rPr>
              <a:t>● www → 10.0.0.68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LItem"/>
          <p:cNvSpPr/>
          <p:nvPr/>
        </p:nvSpPr>
        <p:spPr>
          <a:xfrm>
            <a:off x="685800" y="2300040"/>
            <a:ext cx="519948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fr-FR" sz="1600" b="0" u="none" spc="-51" strike="noStrike">
                <a:solidFill>
                  <a:srgbClr val="FFFFFF"/>
                </a:solidFill>
                <a:effectLst/>
                <a:uFillTx/>
                <a:latin typeface="Calibri"/>
              </a:rPr>
              <a:t>● api → 10.0.0.68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LItem"/>
          <p:cNvSpPr/>
          <p:nvPr/>
        </p:nvSpPr>
        <p:spPr>
          <a:xfrm>
            <a:off x="685800" y="2700000"/>
            <a:ext cx="519948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fr-FR" sz="1600" b="0" u="none" spc="-51" strike="noStrike">
                <a:solidFill>
                  <a:srgbClr val="FFFFFF"/>
                </a:solidFill>
                <a:effectLst/>
                <a:uFillTx/>
                <a:latin typeface="Calibri"/>
              </a:rPr>
              <a:t>● 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LItem"/>
          <p:cNvSpPr/>
          <p:nvPr/>
        </p:nvSpPr>
        <p:spPr>
          <a:xfrm>
            <a:off x="685800" y="3099960"/>
            <a:ext cx="519948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fr-FR" sz="1600" b="0" u="none" spc="-51" strike="noStrike">
                <a:solidFill>
                  <a:srgbClr val="FFFFFF"/>
                </a:solidFill>
                <a:effectLst/>
                <a:uFillTx/>
                <a:latin typeface="Calibri"/>
              </a:rPr>
              <a:t>● 🛡️ Sécurité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LItem"/>
          <p:cNvSpPr/>
          <p:nvPr/>
        </p:nvSpPr>
        <p:spPr>
          <a:xfrm>
            <a:off x="685800" y="3499920"/>
            <a:ext cx="519948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fr-FR" sz="1600" b="0" u="none" spc="-51" strike="noStrike">
                <a:solidFill>
                  <a:srgbClr val="FFFFFF"/>
                </a:solidFill>
                <a:effectLst/>
                <a:uFillTx/>
                <a:latin typeface="Calibri"/>
              </a:rPr>
              <a:t>● Pare-feu UFW actif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LItem"/>
          <p:cNvSpPr/>
          <p:nvPr/>
        </p:nvSpPr>
        <p:spPr>
          <a:xfrm>
            <a:off x="685800" y="3899880"/>
            <a:ext cx="519948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fr-FR" sz="1600" b="0" u="none" spc="-51" strike="noStrike">
                <a:solidFill>
                  <a:srgbClr val="FFFFFF"/>
                </a:solidFill>
                <a:effectLst/>
                <a:uFillTx/>
                <a:latin typeface="Calibri"/>
              </a:rPr>
              <a:t>● Ports 22, 80, 443, 53, 67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RHead"/>
          <p:cNvSpPr/>
          <p:nvPr/>
        </p:nvSpPr>
        <p:spPr>
          <a:xfrm>
            <a:off x="6400080" y="1100160"/>
            <a:ext cx="539964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fr-FR" sz="2000" b="1" u="none" spc="-51" strike="noStrike">
                <a:solidFill>
                  <a:srgbClr val="6F42C1"/>
                </a:solidFill>
                <a:effectLst/>
                <a:uFillTx/>
                <a:latin typeface="Calibri"/>
              </a:rPr>
              <a:t>📡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RItem"/>
          <p:cNvSpPr/>
          <p:nvPr/>
        </p:nvSpPr>
        <p:spPr>
          <a:xfrm>
            <a:off x="6657840" y="1500120"/>
            <a:ext cx="519948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fr-FR" sz="1600" b="0" u="none" spc="-51" strike="noStrike">
                <a:solidFill>
                  <a:srgbClr val="FFFFFF"/>
                </a:solidFill>
                <a:effectLst/>
                <a:uFillTx/>
                <a:latin typeface="Calibri"/>
              </a:rPr>
              <a:t>● Plage : 10.0.0.50-200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RItem"/>
          <p:cNvSpPr/>
          <p:nvPr/>
        </p:nvSpPr>
        <p:spPr>
          <a:xfrm>
            <a:off x="6657840" y="1900080"/>
            <a:ext cx="519948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fr-FR" sz="1600" b="0" u="none" spc="-51" strike="noStrike">
                <a:solidFill>
                  <a:srgbClr val="FFFFFF"/>
                </a:solidFill>
                <a:effectLst/>
                <a:uFillTx/>
                <a:latin typeface="Calibri"/>
              </a:rPr>
              <a:t>● Bail : 600-7200 secondes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RItem"/>
          <p:cNvSpPr/>
          <p:nvPr/>
        </p:nvSpPr>
        <p:spPr>
          <a:xfrm>
            <a:off x="6657840" y="2300040"/>
            <a:ext cx="519948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fr-FR" sz="1600" b="0" u="none" spc="-51" strike="noStrike">
                <a:solidFill>
                  <a:srgbClr val="FFFFFF"/>
                </a:solidFill>
                <a:effectLst/>
                <a:uFillTx/>
                <a:latin typeface="Calibri"/>
              </a:rPr>
              <a:t>● Option routeur &amp; DNS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RItem"/>
          <p:cNvSpPr/>
          <p:nvPr/>
        </p:nvSpPr>
        <p:spPr>
          <a:xfrm>
            <a:off x="6657840" y="2700000"/>
            <a:ext cx="519948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fr-FR" sz="1600" b="0" u="none" spc="-51" strike="noStrike">
                <a:solidFill>
                  <a:srgbClr val="FFFFFF"/>
                </a:solidFill>
                <a:effectLst/>
                <a:uFillTx/>
                <a:latin typeface="Calibri"/>
              </a:rPr>
              <a:t>● 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RItem"/>
          <p:cNvSpPr/>
          <p:nvPr/>
        </p:nvSpPr>
        <p:spPr>
          <a:xfrm>
            <a:off x="6657840" y="3099960"/>
            <a:ext cx="519948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fr-FR" sz="1600" b="0" u="none" spc="-51" strike="noStrike">
                <a:solidFill>
                  <a:srgbClr val="FFFFFF"/>
                </a:solidFill>
                <a:effectLst/>
                <a:uFillTx/>
                <a:latin typeface="Calibri"/>
              </a:rPr>
              <a:t>● 🔧 Apache 2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RItem"/>
          <p:cNvSpPr/>
          <p:nvPr/>
        </p:nvSpPr>
        <p:spPr>
          <a:xfrm>
            <a:off x="6657840" y="3499920"/>
            <a:ext cx="519948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fr-FR" sz="1600" b="0" u="none" spc="-51" strike="noStrike">
                <a:solidFill>
                  <a:srgbClr val="FFFFFF"/>
                </a:solidFill>
                <a:effectLst/>
                <a:uFillTx/>
                <a:latin typeface="Calibri"/>
              </a:rPr>
              <a:t>● mod_proxy + mod_proxy_http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RItem"/>
          <p:cNvSpPr/>
          <p:nvPr/>
        </p:nvSpPr>
        <p:spPr>
          <a:xfrm>
            <a:off x="6657840" y="3899880"/>
            <a:ext cx="519948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fr-FR" sz="1600" b="0" u="none" spc="-51" strike="noStrike">
                <a:solidFill>
                  <a:srgbClr val="FFFFFF"/>
                </a:solidFill>
                <a:effectLst/>
                <a:uFillTx/>
                <a:latin typeface="Calibri"/>
              </a:rPr>
              <a:t>● VirtualHosts configurés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Bg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1B3A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opBar"/>
          <p:cNvSpPr/>
          <p:nvPr/>
        </p:nvSpPr>
        <p:spPr>
          <a:xfrm>
            <a:off x="0" y="0"/>
            <a:ext cx="12191760" cy="914040"/>
          </a:xfrm>
          <a:prstGeom prst="rect">
            <a:avLst/>
          </a:prstGeom>
          <a:solidFill>
            <a:srgbClr val="28A74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itle"/>
          <p:cNvSpPr/>
          <p:nvPr/>
        </p:nvSpPr>
        <p:spPr>
          <a:xfrm>
            <a:off x="457200" y="200160"/>
            <a:ext cx="11199600" cy="6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fr-FR" sz="2800" b="1" u="none" spc="-51" strike="noStrike">
                <a:solidFill>
                  <a:srgbClr val="FFFFFF"/>
                </a:solidFill>
                <a:effectLst/>
                <a:uFillTx/>
                <a:latin typeface="Calibri"/>
              </a:rPr>
              <a:t>Développement .NET 9</a:t>
            </a:r>
            <a:endParaRPr lang="fr-F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Line"/>
          <p:cNvSpPr/>
          <p:nvPr/>
        </p:nvSpPr>
        <p:spPr>
          <a:xfrm>
            <a:off x="457200" y="849960"/>
            <a:ext cx="2999520" cy="35640"/>
          </a:xfrm>
          <a:prstGeom prst="rect">
            <a:avLst/>
          </a:prstGeom>
          <a:solidFill>
            <a:srgbClr val="28A74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9000" rIns="90000" bIns="-9000" anchor="t">
            <a:noAutofit/>
          </a:bodyPr>
          <a:p>
            <a:endParaRPr lang="fr-F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LHead"/>
          <p:cNvSpPr/>
          <p:nvPr/>
        </p:nvSpPr>
        <p:spPr>
          <a:xfrm>
            <a:off x="457200" y="1100160"/>
            <a:ext cx="539964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fr-FR" sz="2000" b="1" u="none" spc="-51" strike="noStrike">
                <a:solidFill>
                  <a:srgbClr val="28A745"/>
                </a:solidFill>
                <a:effectLst/>
                <a:uFillTx/>
                <a:latin typeface="Calibri"/>
              </a:rPr>
              <a:t>🖥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LItem"/>
          <p:cNvSpPr/>
          <p:nvPr/>
        </p:nvSpPr>
        <p:spPr>
          <a:xfrm>
            <a:off x="685800" y="1500120"/>
            <a:ext cx="519948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fr-FR" sz="1600" b="0" u="none" spc="-51" strike="noStrike">
                <a:solidFill>
                  <a:srgbClr val="FFFFFF"/>
                </a:solidFill>
                <a:effectLst/>
                <a:uFillTx/>
                <a:latin typeface="Calibri"/>
              </a:rPr>
              <a:t>● ASP.NET Core 9 Razor Pages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LItem"/>
          <p:cNvSpPr/>
          <p:nvPr/>
        </p:nvSpPr>
        <p:spPr>
          <a:xfrm>
            <a:off x="685800" y="1900080"/>
            <a:ext cx="519948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fr-FR" sz="1600" b="0" u="none" spc="-51" strike="noStrike">
                <a:solidFill>
                  <a:srgbClr val="FFFFFF"/>
                </a:solidFill>
                <a:effectLst/>
                <a:uFillTx/>
                <a:latin typeface="Calibri"/>
              </a:rPr>
              <a:t>● Port interne : 5000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LItem"/>
          <p:cNvSpPr/>
          <p:nvPr/>
        </p:nvSpPr>
        <p:spPr>
          <a:xfrm>
            <a:off x="685800" y="2300040"/>
            <a:ext cx="519948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fr-FR" sz="1600" b="0" u="none" spc="-51" strike="noStrike">
                <a:solidFill>
                  <a:srgbClr val="FFFFFF"/>
                </a:solidFill>
                <a:effectLst/>
                <a:uFillTx/>
                <a:latin typeface="Calibri"/>
              </a:rPr>
              <a:t>● Pages : Accueil, Confidentalité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LItem"/>
          <p:cNvSpPr/>
          <p:nvPr/>
        </p:nvSpPr>
        <p:spPr>
          <a:xfrm>
            <a:off x="685800" y="2700000"/>
            <a:ext cx="519948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fr-FR" sz="1600" b="0" u="none" spc="-51" strike="noStrike">
                <a:solidFill>
                  <a:srgbClr val="FFFFFF"/>
                </a:solidFill>
                <a:effectLst/>
                <a:uFillTx/>
                <a:latin typeface="Calibri"/>
              </a:rPr>
              <a:t>● Thème Bootstrap responsive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LItem"/>
          <p:cNvSpPr/>
          <p:nvPr/>
        </p:nvSpPr>
        <p:spPr>
          <a:xfrm>
            <a:off x="685800" y="3099960"/>
            <a:ext cx="519948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fr-FR" sz="1600" b="0" u="none" spc="-51" strike="noStrike">
                <a:solidFill>
                  <a:srgbClr val="FFFFFF"/>
                </a:solidFill>
                <a:effectLst/>
                <a:uFillTx/>
                <a:latin typeface="Calibri"/>
              </a:rPr>
              <a:t>● Layout personnalisé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RHead"/>
          <p:cNvSpPr/>
          <p:nvPr/>
        </p:nvSpPr>
        <p:spPr>
          <a:xfrm>
            <a:off x="6400080" y="1100160"/>
            <a:ext cx="539964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fr-FR" sz="2000" b="1" u="none" spc="-51" strike="noStrike">
                <a:solidFill>
                  <a:srgbClr val="28A745"/>
                </a:solidFill>
                <a:effectLst/>
                <a:uFillTx/>
                <a:latin typeface="Calibri"/>
              </a:rPr>
              <a:t>⚙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RItem"/>
          <p:cNvSpPr/>
          <p:nvPr/>
        </p:nvSpPr>
        <p:spPr>
          <a:xfrm>
            <a:off x="6657840" y="1500120"/>
            <a:ext cx="519948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fr-FR" sz="1600" b="0" u="none" spc="-51" strike="noStrike">
                <a:solidFill>
                  <a:srgbClr val="FFFFFF"/>
                </a:solidFill>
                <a:effectLst/>
                <a:uFillTx/>
                <a:latin typeface="Calibri"/>
              </a:rPr>
              <a:t>● ASP.NET Core 9 Minimal API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RItem"/>
          <p:cNvSpPr/>
          <p:nvPr/>
        </p:nvSpPr>
        <p:spPr>
          <a:xfrm>
            <a:off x="6657840" y="1900080"/>
            <a:ext cx="519948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fr-FR" sz="1600" b="0" u="none" spc="-51" strike="noStrike">
                <a:solidFill>
                  <a:srgbClr val="FFFFFF"/>
                </a:solidFill>
                <a:effectLst/>
                <a:uFillTx/>
                <a:latin typeface="Calibri"/>
              </a:rPr>
              <a:t>● Port interne : 5001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RItem"/>
          <p:cNvSpPr/>
          <p:nvPr/>
        </p:nvSpPr>
        <p:spPr>
          <a:xfrm>
            <a:off x="6657840" y="2300040"/>
            <a:ext cx="519948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fr-FR" sz="1600" b="0" u="none" spc="-51" strike="noStrike">
                <a:solidFill>
                  <a:srgbClr val="FFFFFF"/>
                </a:solidFill>
                <a:effectLst/>
                <a:uFillTx/>
                <a:latin typeface="Calibri"/>
              </a:rPr>
              <a:t>● GET / → Infos API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RItem"/>
          <p:cNvSpPr/>
          <p:nvPr/>
        </p:nvSpPr>
        <p:spPr>
          <a:xfrm>
            <a:off x="6657840" y="2700000"/>
            <a:ext cx="519948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fr-FR" sz="1600" b="0" u="none" spc="-51" strike="noStrike">
                <a:solidFill>
                  <a:srgbClr val="FFFFFF"/>
                </a:solidFill>
                <a:effectLst/>
                <a:uFillTx/>
                <a:latin typeface="Calibri"/>
              </a:rPr>
              <a:t>● GET /trainee → Liste stagiaires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RItem"/>
          <p:cNvSpPr/>
          <p:nvPr/>
        </p:nvSpPr>
        <p:spPr>
          <a:xfrm>
            <a:off x="6657840" y="3099960"/>
            <a:ext cx="519948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fr-FR" sz="1600" b="0" u="none" spc="-51" strike="noStrike">
                <a:solidFill>
                  <a:srgbClr val="FFFFFF"/>
                </a:solidFill>
                <a:effectLst/>
                <a:uFillTx/>
                <a:latin typeface="Calibri"/>
              </a:rPr>
              <a:t>● POST /trainee → Ajout (optionnel)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RItem"/>
          <p:cNvSpPr/>
          <p:nvPr/>
        </p:nvSpPr>
        <p:spPr>
          <a:xfrm>
            <a:off x="6657840" y="3499920"/>
            <a:ext cx="519948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fr-FR" sz="1600" b="0" u="none" spc="-51" strike="noStrike">
                <a:solidFill>
                  <a:srgbClr val="FFFFFF"/>
                </a:solidFill>
                <a:effectLst/>
                <a:uFillTx/>
                <a:latin typeface="Calibri"/>
              </a:rPr>
              <a:t>● 📖 Swagger UI → /swagger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Bg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1B3A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TopBar"/>
          <p:cNvSpPr/>
          <p:nvPr/>
        </p:nvSpPr>
        <p:spPr>
          <a:xfrm>
            <a:off x="0" y="0"/>
            <a:ext cx="12191760" cy="914040"/>
          </a:xfrm>
          <a:prstGeom prst="rect">
            <a:avLst/>
          </a:prstGeom>
          <a:solidFill>
            <a:srgbClr val="FFC10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itle"/>
          <p:cNvSpPr/>
          <p:nvPr/>
        </p:nvSpPr>
        <p:spPr>
          <a:xfrm>
            <a:off x="457200" y="200160"/>
            <a:ext cx="11199600" cy="6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fr-FR" sz="2800" b="1" u="none" spc="-51" strike="noStrike">
                <a:solidFill>
                  <a:srgbClr val="FFFFFF"/>
                </a:solidFill>
                <a:effectLst/>
                <a:uFillTx/>
                <a:latin typeface="Calibri"/>
              </a:rPr>
              <a:t>Base de Données SQLite</a:t>
            </a:r>
            <a:endParaRPr lang="fr-F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Line"/>
          <p:cNvSpPr/>
          <p:nvPr/>
        </p:nvSpPr>
        <p:spPr>
          <a:xfrm>
            <a:off x="457200" y="849960"/>
            <a:ext cx="2999520" cy="35640"/>
          </a:xfrm>
          <a:prstGeom prst="rect">
            <a:avLst/>
          </a:prstGeom>
          <a:solidFill>
            <a:srgbClr val="FFC10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9000" rIns="90000" bIns="-9000" anchor="t">
            <a:noAutofit/>
          </a:bodyPr>
          <a:p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LHead"/>
          <p:cNvSpPr/>
          <p:nvPr/>
        </p:nvSpPr>
        <p:spPr>
          <a:xfrm>
            <a:off x="457200" y="1100160"/>
            <a:ext cx="539964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fr-FR" sz="2000" b="1" u="none" spc="-51" strike="noStrike">
                <a:solidFill>
                  <a:srgbClr val="FFC107"/>
                </a:solidFill>
                <a:effectLst/>
                <a:uFillTx/>
                <a:latin typeface="Calibri"/>
              </a:rPr>
              <a:t>🗄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LItem"/>
          <p:cNvSpPr/>
          <p:nvPr/>
        </p:nvSpPr>
        <p:spPr>
          <a:xfrm>
            <a:off x="685800" y="1500120"/>
            <a:ext cx="519948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fr-FR" sz="1600" b="0" u="none" spc="-51" strike="noStrike">
                <a:solidFill>
                  <a:srgbClr val="FFFFFF"/>
                </a:solidFill>
                <a:effectLst/>
                <a:uFillTx/>
                <a:latin typeface="Calibri"/>
              </a:rPr>
              <a:t>● Id (int, PK)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LItem"/>
          <p:cNvSpPr/>
          <p:nvPr/>
        </p:nvSpPr>
        <p:spPr>
          <a:xfrm>
            <a:off x="685800" y="1900080"/>
            <a:ext cx="519948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fr-FR" sz="1600" b="0" u="none" spc="-51" strike="noStrike">
                <a:solidFill>
                  <a:srgbClr val="FFFFFF"/>
                </a:solidFill>
                <a:effectLst/>
                <a:uFillTx/>
                <a:latin typeface="Calibri"/>
              </a:rPr>
              <a:t>● Nom (string, required)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LItem"/>
          <p:cNvSpPr/>
          <p:nvPr/>
        </p:nvSpPr>
        <p:spPr>
          <a:xfrm>
            <a:off x="685800" y="2300040"/>
            <a:ext cx="519948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fr-FR" sz="1600" b="0" u="none" spc="-51" strike="noStrike">
                <a:solidFill>
                  <a:srgbClr val="FFFFFF"/>
                </a:solidFill>
                <a:effectLst/>
                <a:uFillTx/>
                <a:latin typeface="Calibri"/>
              </a:rPr>
              <a:t>● Prénom (string, required)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LItem"/>
          <p:cNvSpPr/>
          <p:nvPr/>
        </p:nvSpPr>
        <p:spPr>
          <a:xfrm>
            <a:off x="685800" y="2700000"/>
            <a:ext cx="519948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fr-FR" sz="1600" b="0" u="none" spc="-51" strike="noStrike">
                <a:solidFill>
                  <a:srgbClr val="FFFFFF"/>
                </a:solidFill>
                <a:effectLst/>
                <a:uFillTx/>
                <a:latin typeface="Calibri"/>
              </a:rPr>
              <a:t>● Email (string, unique)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LItem"/>
          <p:cNvSpPr/>
          <p:nvPr/>
        </p:nvSpPr>
        <p:spPr>
          <a:xfrm>
            <a:off x="685800" y="3099960"/>
            <a:ext cx="519948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fr-FR" sz="1600" b="0" u="none" spc="-51" strike="noStrike">
                <a:solidFill>
                  <a:srgbClr val="FFFFFF"/>
                </a:solidFill>
                <a:effectLst/>
                <a:uFillTx/>
                <a:latin typeface="Calibri"/>
              </a:rPr>
              <a:t>● DateNaissance (Date)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LItem"/>
          <p:cNvSpPr/>
          <p:nvPr/>
        </p:nvSpPr>
        <p:spPr>
          <a:xfrm>
            <a:off x="685800" y="3499920"/>
            <a:ext cx="519948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fr-FR" sz="1600" b="0" u="none" spc="-51" strike="noStrike">
                <a:solidFill>
                  <a:srgbClr val="FFFFFF"/>
                </a:solidFill>
                <a:effectLst/>
                <a:uFillTx/>
                <a:latin typeface="Calibri"/>
              </a:rPr>
              <a:t>● DateInscription (DateTime)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RHead"/>
          <p:cNvSpPr/>
          <p:nvPr/>
        </p:nvSpPr>
        <p:spPr>
          <a:xfrm>
            <a:off x="6400080" y="1100160"/>
            <a:ext cx="539964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fr-FR" sz="2000" b="1" u="none" spc="-51" strike="noStrike">
                <a:solidFill>
                  <a:srgbClr val="FFC107"/>
                </a:solidFill>
                <a:effectLst/>
                <a:uFillTx/>
                <a:latin typeface="Calibri"/>
              </a:rPr>
              <a:t>📊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RItem"/>
          <p:cNvSpPr/>
          <p:nvPr/>
        </p:nvSpPr>
        <p:spPr>
          <a:xfrm>
            <a:off x="6657840" y="1500120"/>
            <a:ext cx="519948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fr-FR" sz="1600" b="0" u="none" spc="-51" strike="noStrike">
                <a:solidFill>
                  <a:srgbClr val="FFFFFF"/>
                </a:solidFill>
                <a:effectLst/>
                <a:uFillTx/>
                <a:latin typeface="Calibri"/>
              </a:rPr>
              <a:t>● ORM Microsoft performant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RItem"/>
          <p:cNvSpPr/>
          <p:nvPr/>
        </p:nvSpPr>
        <p:spPr>
          <a:xfrm>
            <a:off x="6657840" y="1900080"/>
            <a:ext cx="519948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fr-FR" sz="1600" b="0" u="none" spc="-51" strike="noStrike">
                <a:solidFill>
                  <a:srgbClr val="FFFFFF"/>
                </a:solidFill>
                <a:effectLst/>
                <a:uFillTx/>
                <a:latin typeface="Calibri"/>
              </a:rPr>
              <a:t>● Migrations automatiques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RItem"/>
          <p:cNvSpPr/>
          <p:nvPr/>
        </p:nvSpPr>
        <p:spPr>
          <a:xfrm>
            <a:off x="6657840" y="2300040"/>
            <a:ext cx="519948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fr-FR" sz="1600" b="0" u="none" spc="-51" strike="noStrike">
                <a:solidFill>
                  <a:srgbClr val="FFFFFF"/>
                </a:solidFill>
                <a:effectLst/>
                <a:uFillTx/>
                <a:latin typeface="Calibri"/>
              </a:rPr>
              <a:t>● EnsureCreated() au démarrage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RItem"/>
          <p:cNvSpPr/>
          <p:nvPr/>
        </p:nvSpPr>
        <p:spPr>
          <a:xfrm>
            <a:off x="6657840" y="2700000"/>
            <a:ext cx="519948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fr-FR" sz="1600" b="0" u="none" spc="-51" strike="noStrike">
                <a:solidFill>
                  <a:srgbClr val="FFFFFF"/>
                </a:solidFill>
                <a:effectLst/>
                <a:uFillTx/>
                <a:latin typeface="Calibri"/>
              </a:rPr>
              <a:t>● 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RItem"/>
          <p:cNvSpPr/>
          <p:nvPr/>
        </p:nvSpPr>
        <p:spPr>
          <a:xfrm>
            <a:off x="6657840" y="3099960"/>
            <a:ext cx="519948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fr-FR" sz="1600" b="0" u="none" spc="-51" strike="noStrike">
                <a:solidFill>
                  <a:srgbClr val="FFFFFF"/>
                </a:solidFill>
                <a:effectLst/>
                <a:uFillTx/>
                <a:latin typeface="Calibri"/>
              </a:rPr>
              <a:t>● 🌱 Données de démonstration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RItem"/>
          <p:cNvSpPr/>
          <p:nvPr/>
        </p:nvSpPr>
        <p:spPr>
          <a:xfrm>
            <a:off x="6657840" y="3499920"/>
            <a:ext cx="519948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fr-FR" sz="1600" b="0" u="none" spc="-51" strike="noStrike">
                <a:solidFill>
                  <a:srgbClr val="FFFFFF"/>
                </a:solidFill>
                <a:effectLst/>
                <a:uFillTx/>
                <a:latin typeface="Calibri"/>
              </a:rPr>
              <a:t>● 5 stagiaires préchargés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RItem"/>
          <p:cNvSpPr/>
          <p:nvPr/>
        </p:nvSpPr>
        <p:spPr>
          <a:xfrm>
            <a:off x="6657840" y="3899880"/>
            <a:ext cx="519948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fr-FR" sz="1600" b="0" u="none" spc="-51" strike="noStrike">
                <a:solidFill>
                  <a:srgbClr val="FFFFFF"/>
                </a:solidFill>
                <a:effectLst/>
                <a:uFillTx/>
                <a:latin typeface="Calibri"/>
              </a:rPr>
              <a:t>● (Diop, Koné, Traoré, etc.)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Bg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1B3A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TopBar"/>
          <p:cNvSpPr/>
          <p:nvPr/>
        </p:nvSpPr>
        <p:spPr>
          <a:xfrm>
            <a:off x="0" y="0"/>
            <a:ext cx="12191760" cy="914040"/>
          </a:xfrm>
          <a:prstGeom prst="rect">
            <a:avLst/>
          </a:prstGeom>
          <a:solidFill>
            <a:srgbClr val="DC354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Title"/>
          <p:cNvSpPr/>
          <p:nvPr/>
        </p:nvSpPr>
        <p:spPr>
          <a:xfrm>
            <a:off x="457200" y="200160"/>
            <a:ext cx="11199600" cy="6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fr-FR" sz="2800" b="1" u="none" spc="-51" strike="noStrike">
                <a:solidFill>
                  <a:srgbClr val="FFFFFF"/>
                </a:solidFill>
                <a:effectLst/>
                <a:uFillTx/>
                <a:latin typeface="Calibri"/>
              </a:rPr>
              <a:t>Configuration Reverse Proxy (Apache)</a:t>
            </a:r>
            <a:endParaRPr lang="fr-F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Line"/>
          <p:cNvSpPr/>
          <p:nvPr/>
        </p:nvSpPr>
        <p:spPr>
          <a:xfrm>
            <a:off x="457200" y="849960"/>
            <a:ext cx="2999520" cy="35640"/>
          </a:xfrm>
          <a:prstGeom prst="rect">
            <a:avLst/>
          </a:prstGeom>
          <a:solidFill>
            <a:srgbClr val="DC354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9000" rIns="90000" bIns="-9000" anchor="t">
            <a:noAutofit/>
          </a:bodyPr>
          <a:p>
            <a:endParaRPr lang="fr-F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LHead"/>
          <p:cNvSpPr/>
          <p:nvPr/>
        </p:nvSpPr>
        <p:spPr>
          <a:xfrm>
            <a:off x="457200" y="1100160"/>
            <a:ext cx="539964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fr-FR" sz="2000" b="1" u="none" spc="-51" strike="noStrike">
                <a:solidFill>
                  <a:srgbClr val="DC3545"/>
                </a:solidFill>
                <a:effectLst/>
                <a:uFillTx/>
                <a:latin typeface="Calibri"/>
              </a:rPr>
              <a:t>🔄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LItem"/>
          <p:cNvSpPr/>
          <p:nvPr/>
        </p:nvSpPr>
        <p:spPr>
          <a:xfrm>
            <a:off x="685800" y="1500120"/>
            <a:ext cx="519948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fr-FR" sz="1600" b="0" u="none" spc="-51" strike="noStrike">
                <a:solidFill>
                  <a:srgbClr val="FFFFFF"/>
                </a:solidFill>
                <a:effectLst/>
                <a:uFillTx/>
                <a:latin typeface="Calibri"/>
              </a:rPr>
              <a:t>● Apache reçoit les requêtes (80/443)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LItem"/>
          <p:cNvSpPr/>
          <p:nvPr/>
        </p:nvSpPr>
        <p:spPr>
          <a:xfrm>
            <a:off x="685800" y="1900080"/>
            <a:ext cx="519948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fr-FR" sz="1600" b="0" u="none" spc="-51" strike="noStrike">
                <a:solidFill>
                  <a:srgbClr val="FFFFFF"/>
                </a:solidFill>
                <a:effectLst/>
                <a:uFillTx/>
                <a:latin typeface="Calibri"/>
              </a:rPr>
              <a:t>● ProxyPass vers Kestrel (5000/5001)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LItem"/>
          <p:cNvSpPr/>
          <p:nvPr/>
        </p:nvSpPr>
        <p:spPr>
          <a:xfrm>
            <a:off x="685800" y="2300040"/>
            <a:ext cx="519948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fr-FR" sz="1600" b="0" u="none" spc="-51" strike="noStrike">
                <a:solidFill>
                  <a:srgbClr val="FFFFFF"/>
                </a:solidFill>
                <a:effectLst/>
                <a:uFillTx/>
                <a:latin typeface="Calibri"/>
              </a:rPr>
              <a:t>● Client ne voit que Apache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LItem"/>
          <p:cNvSpPr/>
          <p:nvPr/>
        </p:nvSpPr>
        <p:spPr>
          <a:xfrm>
            <a:off x="685800" y="2700000"/>
            <a:ext cx="519948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fr-FR" sz="1600" b="0" u="none" spc="-51" strike="noStrike">
                <a:solidFill>
                  <a:srgbClr val="FFFFFF"/>
                </a:solidFill>
                <a:effectLst/>
                <a:uFillTx/>
                <a:latin typeface="Calibri"/>
              </a:rPr>
              <a:t>● 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LItem"/>
          <p:cNvSpPr/>
          <p:nvPr/>
        </p:nvSpPr>
        <p:spPr>
          <a:xfrm>
            <a:off x="685800" y="3099960"/>
            <a:ext cx="519948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fr-FR" sz="1600" b="0" u="none" spc="-51" strike="noStrike">
                <a:solidFill>
                  <a:srgbClr val="FFFFFF"/>
                </a:solidFill>
                <a:effectLst/>
                <a:uFillTx/>
                <a:latin typeface="Calibri"/>
              </a:rPr>
              <a:t>● 📦 Modules Apache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LItem"/>
          <p:cNvSpPr/>
          <p:nvPr/>
        </p:nvSpPr>
        <p:spPr>
          <a:xfrm>
            <a:off x="685800" y="3499920"/>
            <a:ext cx="519948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fr-FR" sz="1600" b="0" u="none" spc="-51" strike="noStrike">
                <a:solidFill>
                  <a:srgbClr val="FFFFFF"/>
                </a:solidFill>
                <a:effectLst/>
                <a:uFillTx/>
                <a:latin typeface="Calibri"/>
              </a:rPr>
              <a:t>● mod_proxy, mod_proxy_http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LItem"/>
          <p:cNvSpPr/>
          <p:nvPr/>
        </p:nvSpPr>
        <p:spPr>
          <a:xfrm>
            <a:off x="685800" y="3899880"/>
            <a:ext cx="519948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fr-FR" sz="1600" b="0" u="none" spc="-51" strike="noStrike">
                <a:solidFill>
                  <a:srgbClr val="FFFFFF"/>
                </a:solidFill>
                <a:effectLst/>
                <a:uFillTx/>
                <a:latin typeface="Calibri"/>
              </a:rPr>
              <a:t>● mod_rewrite, mod_ssl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LItem"/>
          <p:cNvSpPr/>
          <p:nvPr/>
        </p:nvSpPr>
        <p:spPr>
          <a:xfrm>
            <a:off x="685800" y="4299840"/>
            <a:ext cx="519948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fr-FR" sz="1600" b="0" u="none" spc="-51" strike="noStrike">
                <a:solidFill>
                  <a:srgbClr val="FFFFFF"/>
                </a:solidFill>
                <a:effectLst/>
                <a:uFillTx/>
                <a:latin typeface="Calibri"/>
              </a:rPr>
              <a:t>● mod_headers, mod_deflate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RHead"/>
          <p:cNvSpPr/>
          <p:nvPr/>
        </p:nvSpPr>
        <p:spPr>
          <a:xfrm>
            <a:off x="6400080" y="1100160"/>
            <a:ext cx="539964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fr-FR" sz="2000" b="1" u="none" spc="-51" strike="noStrike">
                <a:solidFill>
                  <a:srgbClr val="DC3545"/>
                </a:solidFill>
                <a:effectLst/>
                <a:uFillTx/>
                <a:latin typeface="Calibri"/>
              </a:rPr>
              <a:t>🔒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RItem"/>
          <p:cNvSpPr/>
          <p:nvPr/>
        </p:nvSpPr>
        <p:spPr>
          <a:xfrm>
            <a:off x="6657840" y="1500120"/>
            <a:ext cx="519948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fr-FR" sz="1600" b="0" u="none" spc="-51" strike="noStrike">
                <a:solidFill>
                  <a:srgbClr val="FFFFFF"/>
                </a:solidFill>
                <a:effectLst/>
                <a:uFillTx/>
                <a:latin typeface="Calibri"/>
              </a:rPr>
              <a:t>● Let's Encrypt (Certbot)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RItem"/>
          <p:cNvSpPr/>
          <p:nvPr/>
        </p:nvSpPr>
        <p:spPr>
          <a:xfrm>
            <a:off x="6657840" y="1900080"/>
            <a:ext cx="519948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fr-FR" sz="1600" b="0" u="none" spc="-51" strike="noStrike">
                <a:solidFill>
                  <a:srgbClr val="FFFFFF"/>
                </a:solidFill>
                <a:effectLst/>
                <a:uFillTx/>
                <a:latin typeface="Calibri"/>
              </a:rPr>
              <a:t>● HTTPS automatique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RItem"/>
          <p:cNvSpPr/>
          <p:nvPr/>
        </p:nvSpPr>
        <p:spPr>
          <a:xfrm>
            <a:off x="6657840" y="2300040"/>
            <a:ext cx="519948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fr-FR" sz="1600" b="0" u="none" spc="-51" strike="noStrike">
                <a:solidFill>
                  <a:srgbClr val="FFFFFF"/>
                </a:solidFill>
                <a:effectLst/>
                <a:uFillTx/>
                <a:latin typeface="Calibri"/>
              </a:rPr>
              <a:t>● Redirection HTTP → HTTPS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RItem"/>
          <p:cNvSpPr/>
          <p:nvPr/>
        </p:nvSpPr>
        <p:spPr>
          <a:xfrm>
            <a:off x="6657840" y="2700000"/>
            <a:ext cx="519948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fr-FR" sz="1600" b="0" u="none" spc="-51" strike="noStrike">
                <a:solidFill>
                  <a:srgbClr val="FFFFFF"/>
                </a:solidFill>
                <a:effectLst/>
                <a:uFillTx/>
                <a:latin typeface="Calibri"/>
              </a:rPr>
              <a:t>● 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RItem"/>
          <p:cNvSpPr/>
          <p:nvPr/>
        </p:nvSpPr>
        <p:spPr>
          <a:xfrm>
            <a:off x="6657840" y="3099960"/>
            <a:ext cx="519948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fr-FR" sz="1600" b="0" u="none" spc="-51" strike="noStrike">
                <a:solidFill>
                  <a:srgbClr val="FFFFFF"/>
                </a:solidFill>
                <a:effectLst/>
                <a:uFillTx/>
                <a:latin typeface="Calibri"/>
              </a:rPr>
              <a:t>● ⚡ Optimisations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RItem"/>
          <p:cNvSpPr/>
          <p:nvPr/>
        </p:nvSpPr>
        <p:spPr>
          <a:xfrm>
            <a:off x="6657840" y="3499920"/>
            <a:ext cx="519948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fr-FR" sz="1600" b="0" u="none" spc="-51" strike="noStrike">
                <a:solidFill>
                  <a:srgbClr val="FFFFFF"/>
                </a:solidFill>
                <a:effectLst/>
                <a:uFillTx/>
                <a:latin typeface="Calibri"/>
              </a:rPr>
              <a:t>● Compression Gzip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RItem"/>
          <p:cNvSpPr/>
          <p:nvPr/>
        </p:nvSpPr>
        <p:spPr>
          <a:xfrm>
            <a:off x="6657840" y="3899880"/>
            <a:ext cx="519948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fr-FR" sz="1600" b="0" u="none" spc="-51" strike="noStrike">
                <a:solidFill>
                  <a:srgbClr val="FFFFFF"/>
                </a:solidFill>
                <a:effectLst/>
                <a:uFillTx/>
                <a:latin typeface="Calibri"/>
              </a:rPr>
              <a:t>● Cache fichiers statiques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RItem"/>
          <p:cNvSpPr/>
          <p:nvPr/>
        </p:nvSpPr>
        <p:spPr>
          <a:xfrm>
            <a:off x="6657840" y="4299840"/>
            <a:ext cx="519948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fr-FR" sz="1600" b="0" u="none" spc="-51" strike="noStrike">
                <a:solidFill>
                  <a:srgbClr val="FFFFFF"/>
                </a:solidFill>
                <a:effectLst/>
                <a:uFillTx/>
                <a:latin typeface="Calibri"/>
              </a:rPr>
              <a:t>● Timeouts configurés (300s)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Bg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1B3A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TopBar"/>
          <p:cNvSpPr/>
          <p:nvPr/>
        </p:nvSpPr>
        <p:spPr>
          <a:xfrm>
            <a:off x="0" y="0"/>
            <a:ext cx="12191760" cy="914040"/>
          </a:xfrm>
          <a:prstGeom prst="rect">
            <a:avLst/>
          </a:prstGeom>
          <a:solidFill>
            <a:srgbClr val="28A74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Title"/>
          <p:cNvSpPr/>
          <p:nvPr/>
        </p:nvSpPr>
        <p:spPr>
          <a:xfrm>
            <a:off x="457200" y="200160"/>
            <a:ext cx="11199600" cy="6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fr-FR" sz="2800" b="1" u="none" spc="-51" strike="noStrike">
                <a:solidFill>
                  <a:srgbClr val="FFFFFF"/>
                </a:solidFill>
                <a:effectLst/>
                <a:uFillTx/>
                <a:latin typeface="Calibri"/>
              </a:rPr>
              <a:t>Tests &amp; Résultats</a:t>
            </a:r>
            <a:endParaRPr lang="fr-F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Line"/>
          <p:cNvSpPr/>
          <p:nvPr/>
        </p:nvSpPr>
        <p:spPr>
          <a:xfrm>
            <a:off x="457200" y="849960"/>
            <a:ext cx="2999520" cy="35640"/>
          </a:xfrm>
          <a:prstGeom prst="rect">
            <a:avLst/>
          </a:prstGeom>
          <a:solidFill>
            <a:srgbClr val="28A74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9000" rIns="90000" bIns="-9000" anchor="t">
            <a:noAutofit/>
          </a:bodyPr>
          <a:p>
            <a:endParaRPr lang="fr-F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Item"/>
          <p:cNvSpPr/>
          <p:nvPr/>
        </p:nvSpPr>
        <p:spPr>
          <a:xfrm>
            <a:off x="685800" y="1050120"/>
            <a:ext cx="10799640" cy="44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fr-FR" sz="1800" b="0" u="none" spc="-51" strike="noStrike">
                <a:solidFill>
                  <a:srgbClr val="FFFFFF"/>
                </a:solidFill>
                <a:effectLst/>
                <a:uFillTx/>
                <a:latin typeface="Calibri"/>
              </a:rPr>
              <a:t>● ✅ Résolution DNS fonctionnelle (dig/nslookup)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Item"/>
          <p:cNvSpPr/>
          <p:nvPr/>
        </p:nvSpPr>
        <p:spPr>
          <a:xfrm>
            <a:off x="685800" y="1530000"/>
            <a:ext cx="10799640" cy="44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fr-FR" sz="1800" b="0" u="none" spc="-51" strike="noStrike">
                <a:solidFill>
                  <a:srgbClr val="FFFFFF"/>
                </a:solidFill>
                <a:effectLst/>
                <a:uFillTx/>
                <a:latin typeface="Calibri"/>
              </a:rPr>
              <a:t>● ✅ DHCP attribue les IPs dans la plage configurée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Item"/>
          <p:cNvSpPr/>
          <p:nvPr/>
        </p:nvSpPr>
        <p:spPr>
          <a:xfrm>
            <a:off x="685800" y="2009880"/>
            <a:ext cx="10799640" cy="44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fr-FR" sz="1800" b="0" u="none" spc="-51" strike="noStrike">
                <a:solidFill>
                  <a:srgbClr val="FFFFFF"/>
                </a:solidFill>
                <a:effectLst/>
                <a:uFillTx/>
                <a:latin typeface="Calibri"/>
              </a:rPr>
              <a:t>● ✅ Apache Reverse Proxy opérationnel sur les 2 domaines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Item"/>
          <p:cNvSpPr/>
          <p:nvPr/>
        </p:nvSpPr>
        <p:spPr>
          <a:xfrm>
            <a:off x="685800" y="2490120"/>
            <a:ext cx="10799640" cy="44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fr-FR" sz="1800" b="0" u="none" spc="-51" strike="noStrike">
                <a:solidFill>
                  <a:srgbClr val="FFFFFF"/>
                </a:solidFill>
                <a:effectLst/>
                <a:uFillTx/>
                <a:latin typeface="Calibri"/>
              </a:rPr>
              <a:t>● ✅ Site vitrine accessible : www.nextdev.ne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Item"/>
          <p:cNvSpPr/>
          <p:nvPr/>
        </p:nvSpPr>
        <p:spPr>
          <a:xfrm>
            <a:off x="685800" y="2970000"/>
            <a:ext cx="10799640" cy="44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fr-FR" sz="1800" b="0" u="none" spc="-51" strike="noStrike">
                <a:solidFill>
                  <a:srgbClr val="FFFFFF"/>
                </a:solidFill>
                <a:effectLst/>
                <a:uFillTx/>
                <a:latin typeface="Calibri"/>
              </a:rPr>
              <a:t>● ✅ API REST fonctionnelle : api.nextdev.ne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Item"/>
          <p:cNvSpPr/>
          <p:nvPr/>
        </p:nvSpPr>
        <p:spPr>
          <a:xfrm>
            <a:off x="685800" y="3449880"/>
            <a:ext cx="10799640" cy="44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fr-FR" sz="1800" b="0" u="none" spc="-51" strike="noStrike">
                <a:solidFill>
                  <a:srgbClr val="FFFFFF"/>
                </a:solidFill>
                <a:effectLst/>
                <a:uFillTx/>
                <a:latin typeface="Calibri"/>
              </a:rPr>
              <a:t>● ✅ Endpoint /trainee retourne la liste JSON des stagiaires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Item"/>
          <p:cNvSpPr/>
          <p:nvPr/>
        </p:nvSpPr>
        <p:spPr>
          <a:xfrm>
            <a:off x="685800" y="3930120"/>
            <a:ext cx="10799640" cy="44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fr-FR" sz="1800" b="0" u="none" spc="-51" strike="noStrike">
                <a:solidFill>
                  <a:srgbClr val="FFFFFF"/>
                </a:solidFill>
                <a:effectLst/>
                <a:uFillTx/>
                <a:latin typeface="Calibri"/>
              </a:rPr>
              <a:t>● ✅ Swagger UI disponible : /swagger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Item"/>
          <p:cNvSpPr/>
          <p:nvPr/>
        </p:nvSpPr>
        <p:spPr>
          <a:xfrm>
            <a:off x="685800" y="4410000"/>
            <a:ext cx="10799640" cy="44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fr-FR" sz="1800" b="0" u="none" spc="-51" strike="noStrike">
                <a:solidFill>
                  <a:srgbClr val="FFFFFF"/>
                </a:solidFill>
                <a:effectLst/>
                <a:uFillTx/>
                <a:latin typeface="Calibri"/>
              </a:rPr>
              <a:t>● ✅ Test direct (Kestrel) et via Apache fonctionnels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Bg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1B3A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TopBar"/>
          <p:cNvSpPr/>
          <p:nvPr/>
        </p:nvSpPr>
        <p:spPr>
          <a:xfrm>
            <a:off x="0" y="0"/>
            <a:ext cx="12191760" cy="914040"/>
          </a:xfrm>
          <a:prstGeom prst="rect">
            <a:avLst/>
          </a:prstGeom>
          <a:solidFill>
            <a:srgbClr val="E83E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Title"/>
          <p:cNvSpPr/>
          <p:nvPr/>
        </p:nvSpPr>
        <p:spPr>
          <a:xfrm>
            <a:off x="457200" y="200160"/>
            <a:ext cx="11199600" cy="6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fr-FR" sz="2800" b="1" u="none" spc="-51" strike="noStrike">
                <a:solidFill>
                  <a:srgbClr val="FFFFFF"/>
                </a:solidFill>
                <a:effectLst/>
                <a:uFillTx/>
                <a:latin typeface="Calibri"/>
              </a:rPr>
              <a:t>Difficultés Rencontrées &amp; Solutions</a:t>
            </a:r>
            <a:endParaRPr lang="fr-F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Line"/>
          <p:cNvSpPr/>
          <p:nvPr/>
        </p:nvSpPr>
        <p:spPr>
          <a:xfrm>
            <a:off x="457200" y="849960"/>
            <a:ext cx="2999520" cy="35640"/>
          </a:xfrm>
          <a:prstGeom prst="rect">
            <a:avLst/>
          </a:prstGeom>
          <a:solidFill>
            <a:srgbClr val="E83E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9000" rIns="90000" bIns="-9000" anchor="t">
            <a:noAutofit/>
          </a:bodyPr>
          <a:p>
            <a:endParaRPr lang="fr-F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LHead"/>
          <p:cNvSpPr/>
          <p:nvPr/>
        </p:nvSpPr>
        <p:spPr>
          <a:xfrm>
            <a:off x="457200" y="1100160"/>
            <a:ext cx="539964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fr-FR" sz="2000" b="1" u="none" spc="-51" strike="noStrike">
                <a:solidFill>
                  <a:srgbClr val="E83E8C"/>
                </a:solidFill>
                <a:effectLst/>
                <a:uFillTx/>
                <a:latin typeface="Calibri"/>
              </a:rPr>
              <a:t>⚠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LItem"/>
          <p:cNvSpPr/>
          <p:nvPr/>
        </p:nvSpPr>
        <p:spPr>
          <a:xfrm>
            <a:off x="685800" y="1500120"/>
            <a:ext cx="519948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fr-FR" sz="1600" b="0" u="none" spc="-51" strike="noStrike">
                <a:solidFill>
                  <a:srgbClr val="FFFFFF"/>
                </a:solidFill>
                <a:effectLst/>
                <a:uFillTx/>
                <a:latin typeface="Calibri"/>
              </a:rPr>
              <a:t>● Configuration BIND9 (syntaxe stricte)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LItem"/>
          <p:cNvSpPr/>
          <p:nvPr/>
        </p:nvSpPr>
        <p:spPr>
          <a:xfrm>
            <a:off x="685800" y="1900080"/>
            <a:ext cx="519948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fr-FR" sz="1600" b="0" u="none" spc="-51" strike="noStrike">
                <a:solidFill>
                  <a:srgbClr val="FFFFFF"/>
                </a:solidFill>
                <a:effectLst/>
                <a:uFillTx/>
                <a:latin typeface="Calibri"/>
              </a:rPr>
              <a:t>● Communication Apache ↔ Kestrel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LItem"/>
          <p:cNvSpPr/>
          <p:nvPr/>
        </p:nvSpPr>
        <p:spPr>
          <a:xfrm>
            <a:off x="685800" y="2300040"/>
            <a:ext cx="519948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fr-FR" sz="1600" b="0" u="none" spc="-51" strike="noStrike">
                <a:solidFill>
                  <a:srgbClr val="FFFFFF"/>
                </a:solidFill>
                <a:effectLst/>
                <a:uFillTx/>
                <a:latin typeface="Calibri"/>
              </a:rPr>
              <a:t>● Forwarded Headers manquants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LItem"/>
          <p:cNvSpPr/>
          <p:nvPr/>
        </p:nvSpPr>
        <p:spPr>
          <a:xfrm>
            <a:off x="685800" y="2700000"/>
            <a:ext cx="519948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fr-FR" sz="1600" b="0" u="none" spc="-51" strike="noStrike">
                <a:solidFill>
                  <a:srgbClr val="FFFFFF"/>
                </a:solidFill>
                <a:effectLst/>
                <a:uFillTx/>
                <a:latin typeface="Calibri"/>
              </a:rPr>
              <a:t>● Gestion des ports sous Linux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LItem"/>
          <p:cNvSpPr/>
          <p:nvPr/>
        </p:nvSpPr>
        <p:spPr>
          <a:xfrm>
            <a:off x="685800" y="3099960"/>
            <a:ext cx="519948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fr-FR" sz="1600" b="0" u="none" spc="-51" strike="noStrike">
                <a:solidFill>
                  <a:srgbClr val="FFFFFF"/>
                </a:solidFill>
                <a:effectLst/>
                <a:uFillTx/>
                <a:latin typeface="Calibri"/>
              </a:rPr>
              <a:t>● Coordination sur 48h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RHead"/>
          <p:cNvSpPr/>
          <p:nvPr/>
        </p:nvSpPr>
        <p:spPr>
          <a:xfrm>
            <a:off x="6400080" y="1100160"/>
            <a:ext cx="539964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fr-FR" sz="2000" b="1" u="none" spc="-51" strike="noStrike">
                <a:solidFill>
                  <a:srgbClr val="E83E8C"/>
                </a:solidFill>
                <a:effectLst/>
                <a:uFillTx/>
                <a:latin typeface="Calibri"/>
              </a:rPr>
              <a:t>💡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RItem"/>
          <p:cNvSpPr/>
          <p:nvPr/>
        </p:nvSpPr>
        <p:spPr>
          <a:xfrm>
            <a:off x="6657840" y="1500120"/>
            <a:ext cx="519948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fr-FR" sz="1600" b="0" u="none" spc="-51" strike="noStrike">
                <a:solidFill>
                  <a:srgbClr val="FFFFFF"/>
                </a:solidFill>
                <a:effectLst/>
                <a:uFillTx/>
                <a:latin typeface="Calibri"/>
              </a:rPr>
              <a:t>● named-checkconf + logs détaillés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RItem"/>
          <p:cNvSpPr/>
          <p:nvPr/>
        </p:nvSpPr>
        <p:spPr>
          <a:xfrm>
            <a:off x="6657840" y="1900080"/>
            <a:ext cx="519948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fr-FR" sz="1600" b="0" u="none" spc="-51" strike="noStrike">
                <a:solidFill>
                  <a:srgbClr val="FFFFFF"/>
                </a:solidFill>
                <a:effectLst/>
                <a:uFillTx/>
                <a:latin typeface="Calibri"/>
              </a:rPr>
              <a:t>● Forwarded Headers middleware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RItem"/>
          <p:cNvSpPr/>
          <p:nvPr/>
        </p:nvSpPr>
        <p:spPr>
          <a:xfrm>
            <a:off x="6657840" y="2300040"/>
            <a:ext cx="519948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fr-FR" sz="1600" b="0" u="none" spc="-51" strike="noStrike">
                <a:solidFill>
                  <a:srgbClr val="FFFFFF"/>
                </a:solidFill>
                <a:effectLst/>
                <a:uFillTx/>
                <a:latin typeface="Calibri"/>
              </a:rPr>
              <a:t>● Configuration X-Forwarded-*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RItem"/>
          <p:cNvSpPr/>
          <p:nvPr/>
        </p:nvSpPr>
        <p:spPr>
          <a:xfrm>
            <a:off x="6657840" y="2700000"/>
            <a:ext cx="519948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fr-FR" sz="1600" b="0" u="none" spc="-51" strike="noStrike">
                <a:solidFill>
                  <a:srgbClr val="FFFFFF"/>
                </a:solidFill>
                <a:effectLst/>
                <a:uFillTx/>
                <a:latin typeface="Calibri"/>
              </a:rPr>
              <a:t>● Netstat + UFW pour le diagnostic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RItem"/>
          <p:cNvSpPr/>
          <p:nvPr/>
        </p:nvSpPr>
        <p:spPr>
          <a:xfrm>
            <a:off x="6657840" y="3099960"/>
            <a:ext cx="519948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fr-FR" sz="1600" b="0" u="none" spc="-51" strike="noStrike">
                <a:solidFill>
                  <a:srgbClr val="FFFFFF"/>
                </a:solidFill>
                <a:effectLst/>
                <a:uFillTx/>
                <a:latin typeface="Calibri"/>
              </a:rPr>
              <a:t>● Scripts automatisés + réunions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Bg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1B3A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TopBar"/>
          <p:cNvSpPr/>
          <p:nvPr/>
        </p:nvSpPr>
        <p:spPr>
          <a:xfrm>
            <a:off x="0" y="0"/>
            <a:ext cx="12191760" cy="914040"/>
          </a:xfrm>
          <a:prstGeom prst="rect">
            <a:avLst/>
          </a:prstGeom>
          <a:solidFill>
            <a:srgbClr val="00A4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Title"/>
          <p:cNvSpPr/>
          <p:nvPr/>
        </p:nvSpPr>
        <p:spPr>
          <a:xfrm>
            <a:off x="457200" y="200160"/>
            <a:ext cx="11199600" cy="6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fr-FR" sz="2800" b="1" u="none" spc="-51" strike="noStrike">
                <a:solidFill>
                  <a:srgbClr val="FFFFFF"/>
                </a:solidFill>
                <a:effectLst/>
                <a:uFillTx/>
                <a:latin typeface="Calibri"/>
              </a:rPr>
              <a:t>Travail d'Équipe &amp; Communication</a:t>
            </a:r>
            <a:endParaRPr lang="fr-F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Line"/>
          <p:cNvSpPr/>
          <p:nvPr/>
        </p:nvSpPr>
        <p:spPr>
          <a:xfrm>
            <a:off x="457200" y="849960"/>
            <a:ext cx="2999520" cy="35640"/>
          </a:xfrm>
          <a:prstGeom prst="rect">
            <a:avLst/>
          </a:prstGeom>
          <a:solidFill>
            <a:srgbClr val="00A4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9000" rIns="90000" bIns="-9000" anchor="t">
            <a:noAutofit/>
          </a:bodyPr>
          <a:p>
            <a:endParaRPr lang="fr-F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Item"/>
          <p:cNvSpPr/>
          <p:nvPr/>
        </p:nvSpPr>
        <p:spPr>
          <a:xfrm>
            <a:off x="685800" y="1050120"/>
            <a:ext cx="10799640" cy="44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fr-FR" sz="1800" b="0" u="none" spc="-51" strike="noStrike">
                <a:solidFill>
                  <a:srgbClr val="FFFFFF"/>
                </a:solidFill>
                <a:effectLst/>
                <a:uFillTx/>
                <a:latin typeface="Calibri"/>
              </a:rPr>
              <a:t>● 👥 4 rôles distincts : Infrastructure, Web, API, Intégration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Item"/>
          <p:cNvSpPr/>
          <p:nvPr/>
        </p:nvSpPr>
        <p:spPr>
          <a:xfrm>
            <a:off x="685800" y="1530000"/>
            <a:ext cx="10799640" cy="44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fr-FR" sz="1800" b="0" u="none" spc="-51" strike="noStrike">
                <a:solidFill>
                  <a:srgbClr val="FFFFFF"/>
                </a:solidFill>
                <a:effectLst/>
                <a:uFillTx/>
                <a:latin typeface="Calibri"/>
              </a:rPr>
              <a:t>● 🔄 Réunions régulières toutes les 4 heures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Item"/>
          <p:cNvSpPr/>
          <p:nvPr/>
        </p:nvSpPr>
        <p:spPr>
          <a:xfrm>
            <a:off x="685800" y="2009880"/>
            <a:ext cx="10799640" cy="44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fr-FR" sz="1800" b="0" u="none" spc="-51" strike="noStrike">
                <a:solidFill>
                  <a:srgbClr val="FFFFFF"/>
                </a:solidFill>
                <a:effectLst/>
                <a:uFillTx/>
                <a:latin typeface="Calibri"/>
              </a:rPr>
              <a:t>● 📋 Partage via documentation commune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Item"/>
          <p:cNvSpPr/>
          <p:nvPr/>
        </p:nvSpPr>
        <p:spPr>
          <a:xfrm>
            <a:off x="685800" y="2490120"/>
            <a:ext cx="10799640" cy="44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fr-FR" sz="1800" b="0" u="none" spc="-51" strike="noStrike">
                <a:solidFill>
                  <a:srgbClr val="FFFFFF"/>
                </a:solidFill>
                <a:effectLst/>
                <a:uFillTx/>
                <a:latin typeface="Calibri"/>
              </a:rPr>
              <a:t>● 🤝 Entraide sur les modules critiques (Reverse Proxy)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Item"/>
          <p:cNvSpPr/>
          <p:nvPr/>
        </p:nvSpPr>
        <p:spPr>
          <a:xfrm>
            <a:off x="685800" y="2970000"/>
            <a:ext cx="10799640" cy="44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fr-FR" sz="1800" b="0" u="none" spc="-51" strike="noStrike">
                <a:solidFill>
                  <a:srgbClr val="FFFFFF"/>
                </a:solidFill>
                <a:effectLst/>
                <a:uFillTx/>
                <a:latin typeface="Calibri"/>
              </a:rPr>
              <a:t>● 🎯 Objectif commun : livrer un projet complet et fonctionnel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Item"/>
          <p:cNvSpPr/>
          <p:nvPr/>
        </p:nvSpPr>
        <p:spPr>
          <a:xfrm>
            <a:off x="685800" y="3449880"/>
            <a:ext cx="10799640" cy="44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fr-FR" sz="1800" b="0" u="none" spc="-51" strike="noStrike">
                <a:solidFill>
                  <a:srgbClr val="FFFFFF"/>
                </a:solidFill>
                <a:effectLst/>
                <a:uFillTx/>
                <a:latin typeface="Calibri"/>
              </a:rPr>
              <a:t>● 📢 Communication claire et continue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Bg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1B3A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Accent"/>
          <p:cNvSpPr/>
          <p:nvPr/>
        </p:nvSpPr>
        <p:spPr>
          <a:xfrm>
            <a:off x="0" y="0"/>
            <a:ext cx="12191760" cy="914040"/>
          </a:xfrm>
          <a:prstGeom prst="rect">
            <a:avLst/>
          </a:prstGeom>
          <a:solidFill>
            <a:srgbClr val="00A4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Title"/>
          <p:cNvSpPr/>
          <p:nvPr/>
        </p:nvSpPr>
        <p:spPr>
          <a:xfrm>
            <a:off x="914400" y="1199880"/>
            <a:ext cx="10399680" cy="89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fr-FR" sz="3600" b="1" u="none" spc="-51" strike="noStrike">
                <a:solidFill>
                  <a:srgbClr val="FFFFFF"/>
                </a:solidFill>
                <a:effectLst/>
                <a:uFillTx/>
                <a:latin typeface="Calibri"/>
              </a:rPr>
              <a:t>Merci pour votre attention !</a:t>
            </a:r>
            <a:endParaRPr lang="fr-F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Sub"/>
          <p:cNvSpPr/>
          <p:nvPr/>
        </p:nvSpPr>
        <p:spPr>
          <a:xfrm>
            <a:off x="914400" y="2099880"/>
            <a:ext cx="10399680" cy="59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fr-FR" sz="2000" b="0" u="none" spc="-51" strike="noStrike">
                <a:solidFill>
                  <a:srgbClr val="A0C4E8"/>
                </a:solidFill>
                <a:effectLst/>
                <a:uFillTx/>
                <a:latin typeface="Calibri"/>
              </a:rPr>
              <a:t>NextDev Challenge | 48 Heures | .NET 9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I"/>
          <p:cNvSpPr/>
          <p:nvPr/>
        </p:nvSpPr>
        <p:spPr>
          <a:xfrm>
            <a:off x="1828800" y="2999880"/>
            <a:ext cx="849960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I"/>
          <p:cNvSpPr/>
          <p:nvPr/>
        </p:nvSpPr>
        <p:spPr>
          <a:xfrm>
            <a:off x="1828800" y="3449880"/>
            <a:ext cx="849960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I"/>
          <p:cNvSpPr/>
          <p:nvPr/>
        </p:nvSpPr>
        <p:spPr>
          <a:xfrm>
            <a:off x="1828800" y="3899880"/>
            <a:ext cx="849960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I"/>
          <p:cNvSpPr/>
          <p:nvPr/>
        </p:nvSpPr>
        <p:spPr>
          <a:xfrm>
            <a:off x="1828800" y="4349880"/>
            <a:ext cx="849960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LibreOffice/26.2.2.2$Linux_X86_64 LibreOffice_project/620$Build-2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NextDev Team</dc:creator>
  <dc:description/>
  <dc:language>fr-FR</dc:language>
  <cp:lastModifiedBy/>
  <dcterms:modified xsi:type="dcterms:W3CDTF">2026-05-08T22:31:06Z</dcterms:modified>
  <cp:revision>2</cp:revision>
  <dc:subject>Présentation du Challenge</dc:subject>
  <dc:title>Challenge NextDev - Hébergement .NET 9</dc:title>
</cp:coreProperties>
</file>